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2"/>
  </p:notesMasterIdLst>
  <p:sldIdLst>
    <p:sldId id="256" r:id="rId2"/>
    <p:sldId id="257" r:id="rId3"/>
    <p:sldId id="268" r:id="rId4"/>
    <p:sldId id="287" r:id="rId5"/>
    <p:sldId id="270" r:id="rId6"/>
    <p:sldId id="271" r:id="rId7"/>
    <p:sldId id="269" r:id="rId8"/>
    <p:sldId id="284" r:id="rId9"/>
    <p:sldId id="272" r:id="rId10"/>
    <p:sldId id="273" r:id="rId11"/>
    <p:sldId id="294" r:id="rId12"/>
    <p:sldId id="275" r:id="rId13"/>
    <p:sldId id="274" r:id="rId14"/>
    <p:sldId id="279" r:id="rId15"/>
    <p:sldId id="276" r:id="rId16"/>
    <p:sldId id="280" r:id="rId17"/>
    <p:sldId id="288" r:id="rId18"/>
    <p:sldId id="278" r:id="rId19"/>
    <p:sldId id="281" r:id="rId20"/>
    <p:sldId id="295" r:id="rId21"/>
    <p:sldId id="282" r:id="rId22"/>
    <p:sldId id="283" r:id="rId23"/>
    <p:sldId id="289" r:id="rId24"/>
    <p:sldId id="286" r:id="rId25"/>
    <p:sldId id="296" r:id="rId26"/>
    <p:sldId id="290" r:id="rId27"/>
    <p:sldId id="291" r:id="rId28"/>
    <p:sldId id="292" r:id="rId29"/>
    <p:sldId id="293" r:id="rId30"/>
    <p:sldId id="267" r:id="rId3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1" roundtripDataSignature="AMtx7mhe1wWgYMlsTmwPP8JtiEZSoLZ/A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49EECCA-3B2E-439E-A9FE-AE0BB2C482AD}">
  <a:tblStyle styleId="{B49EECCA-3B2E-439E-A9FE-AE0BB2C482AD}"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94660"/>
  </p:normalViewPr>
  <p:slideViewPr>
    <p:cSldViewPr snapToGrid="0">
      <p:cViewPr varScale="1">
        <p:scale>
          <a:sx n="78" d="100"/>
          <a:sy n="78" d="100"/>
        </p:scale>
        <p:origin x="878"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it-IT"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1A62586C-1843-935F-AD57-99B637D84FA5}"/>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35009D9B-FE4D-CD13-35DE-E2D251062B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5940D835-9154-849C-635C-5B5B8C2B2D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F2FA9BEA-6D71-DF35-D2EC-1775048B07ED}"/>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3</a:t>
            </a:fld>
            <a:endParaRPr/>
          </a:p>
        </p:txBody>
      </p:sp>
    </p:spTree>
    <p:extLst>
      <p:ext uri="{BB962C8B-B14F-4D97-AF65-F5344CB8AC3E}">
        <p14:creationId xmlns:p14="http://schemas.microsoft.com/office/powerpoint/2010/main" val="4143913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1D72D80C-1E69-5D7E-267D-7444281421CF}"/>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B710352C-10CE-C3FE-0E39-0D5EC1C085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E05C94B0-7D70-5E8F-889F-A623748144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F010617E-6BF5-4ABB-8B57-4B1807299521}"/>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4</a:t>
            </a:fld>
            <a:endParaRPr/>
          </a:p>
        </p:txBody>
      </p:sp>
    </p:spTree>
    <p:extLst>
      <p:ext uri="{BB962C8B-B14F-4D97-AF65-F5344CB8AC3E}">
        <p14:creationId xmlns:p14="http://schemas.microsoft.com/office/powerpoint/2010/main" val="14393959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217C1D78-64FA-F9E5-8BF6-1AE7DB7552F7}"/>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C1B772BF-4B63-736C-DEA2-AC22D1EB05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78CC145D-C877-8C79-BE44-441B0C809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D2BE9839-35C1-67F2-6AD2-D04C7C847248}"/>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5</a:t>
            </a:fld>
            <a:endParaRPr/>
          </a:p>
        </p:txBody>
      </p:sp>
    </p:spTree>
    <p:extLst>
      <p:ext uri="{BB962C8B-B14F-4D97-AF65-F5344CB8AC3E}">
        <p14:creationId xmlns:p14="http://schemas.microsoft.com/office/powerpoint/2010/main" val="2134706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35E8F283-7A63-5BFD-5320-16AE528ACFF3}"/>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2783D3ED-5C00-8B4A-0D32-3F84FA91D5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982D7ED3-95F5-301A-3181-80341775AD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46EB969F-FCF6-CFAE-F1BC-72B2467B145E}"/>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6</a:t>
            </a:fld>
            <a:endParaRPr/>
          </a:p>
        </p:txBody>
      </p:sp>
    </p:spTree>
    <p:extLst>
      <p:ext uri="{BB962C8B-B14F-4D97-AF65-F5344CB8AC3E}">
        <p14:creationId xmlns:p14="http://schemas.microsoft.com/office/powerpoint/2010/main" val="8496992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671F4748-EA7D-115E-258F-5DB1EC92D5DF}"/>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2C0C721E-49A3-A403-F434-D2D58FAB0D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80F9F2FA-12DB-FFC7-F3E4-81551E87AF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BFDAF6B7-CEA6-2AA7-87B3-ECD607159903}"/>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7</a:t>
            </a:fld>
            <a:endParaRPr/>
          </a:p>
        </p:txBody>
      </p:sp>
    </p:spTree>
    <p:extLst>
      <p:ext uri="{BB962C8B-B14F-4D97-AF65-F5344CB8AC3E}">
        <p14:creationId xmlns:p14="http://schemas.microsoft.com/office/powerpoint/2010/main" val="27045972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2A6F8FEA-645B-C25C-29C0-DCA349079654}"/>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E747620A-E46A-2B94-07D8-D9B56442BA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5FF86CF0-1B3C-D3A0-64AA-B67C54D0D7A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3651B522-7916-9E60-A168-576E96A6368B}"/>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8</a:t>
            </a:fld>
            <a:endParaRPr/>
          </a:p>
        </p:txBody>
      </p:sp>
    </p:spTree>
    <p:extLst>
      <p:ext uri="{BB962C8B-B14F-4D97-AF65-F5344CB8AC3E}">
        <p14:creationId xmlns:p14="http://schemas.microsoft.com/office/powerpoint/2010/main" val="30716390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A1273611-FA60-C2CE-35F0-0EE0683FCFB0}"/>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BBBA455B-A6F3-B76B-8465-C368B81241E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8598CE74-5D46-5D0A-FD67-534209DEA9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EB906C1F-4C24-3AB7-362F-00E6A68C03CE}"/>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9</a:t>
            </a:fld>
            <a:endParaRPr/>
          </a:p>
        </p:txBody>
      </p:sp>
    </p:spTree>
    <p:extLst>
      <p:ext uri="{BB962C8B-B14F-4D97-AF65-F5344CB8AC3E}">
        <p14:creationId xmlns:p14="http://schemas.microsoft.com/office/powerpoint/2010/main" val="37019902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FDCFB6FB-F959-0D35-FBB3-26170CAC181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93FF06F1-0A50-5AF6-C9F5-532FCFFDBB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8E4BACE4-D533-FE66-78D2-106115423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8D1BF08A-FB42-91B0-3EA9-F55579E9B597}"/>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10</a:t>
            </a:fld>
            <a:endParaRPr/>
          </a:p>
        </p:txBody>
      </p:sp>
    </p:spTree>
    <p:extLst>
      <p:ext uri="{BB962C8B-B14F-4D97-AF65-F5344CB8AC3E}">
        <p14:creationId xmlns:p14="http://schemas.microsoft.com/office/powerpoint/2010/main" val="18730652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7FCDC571-4763-4E63-C273-4E80D772A73E}"/>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93B8592E-BE3E-E586-357B-6A6E7F0CF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97DF7ED7-1D1D-DAFA-D999-19ABD0DC48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5F692EAE-B90D-5612-94F7-0A37B68602AF}"/>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11</a:t>
            </a:fld>
            <a:endParaRPr/>
          </a:p>
        </p:txBody>
      </p:sp>
    </p:spTree>
    <p:extLst>
      <p:ext uri="{BB962C8B-B14F-4D97-AF65-F5344CB8AC3E}">
        <p14:creationId xmlns:p14="http://schemas.microsoft.com/office/powerpoint/2010/main" val="16250210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38DAC09D-F908-BC83-8B3C-AB49F72C71D7}"/>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5CDEF2CE-97E5-5FBB-916A-F748513753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B1E24A31-1059-78EB-C619-AA2E3EAE77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12AE7FC0-95C8-9215-7809-193624F5BB51}"/>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12</a:t>
            </a:fld>
            <a:endParaRPr/>
          </a:p>
        </p:txBody>
      </p:sp>
    </p:spTree>
    <p:extLst>
      <p:ext uri="{BB962C8B-B14F-4D97-AF65-F5344CB8AC3E}">
        <p14:creationId xmlns:p14="http://schemas.microsoft.com/office/powerpoint/2010/main" val="17750694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4F8A79DB-8EC6-1831-CC90-73E52EB5ADD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07491C4E-A89C-10D3-3057-B8C61E20BF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EB4A7F91-DB75-24FC-B424-F20FC91848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1022A763-740C-410E-0FBA-0882C7829782}"/>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13</a:t>
            </a:fld>
            <a:endParaRPr/>
          </a:p>
        </p:txBody>
      </p:sp>
    </p:spTree>
    <p:extLst>
      <p:ext uri="{BB962C8B-B14F-4D97-AF65-F5344CB8AC3E}">
        <p14:creationId xmlns:p14="http://schemas.microsoft.com/office/powerpoint/2010/main" val="839951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CD684419-A275-AB03-9013-31B35F157297}"/>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47306C05-304F-85B6-D292-033B2542AA7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ED04DE1B-A2FA-020C-30CF-038D87D88D4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5A109418-1B24-0937-C0EF-D6836AB99F34}"/>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14</a:t>
            </a:fld>
            <a:endParaRPr/>
          </a:p>
        </p:txBody>
      </p:sp>
    </p:spTree>
    <p:extLst>
      <p:ext uri="{BB962C8B-B14F-4D97-AF65-F5344CB8AC3E}">
        <p14:creationId xmlns:p14="http://schemas.microsoft.com/office/powerpoint/2010/main" val="27990275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D20F702A-AF3C-EF0A-D634-0D5F1541869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425781F3-352B-658A-6FCD-722E8639501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6BB92688-817E-B33F-E248-A007E19C2C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7C02DF39-CACF-211F-06AC-55C3DF1D84AD}"/>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15</a:t>
            </a:fld>
            <a:endParaRPr/>
          </a:p>
        </p:txBody>
      </p:sp>
    </p:spTree>
    <p:extLst>
      <p:ext uri="{BB962C8B-B14F-4D97-AF65-F5344CB8AC3E}">
        <p14:creationId xmlns:p14="http://schemas.microsoft.com/office/powerpoint/2010/main" val="5993513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F68BF673-3F34-7BF2-DF41-A6DD95ACA948}"/>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FFC5B855-C676-67C2-BEE2-3AAE30CC0D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B11E6CD0-10DB-3166-11FA-7BAA874D98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275D18DE-925C-D06F-8D6A-8C21A62DFBD7}"/>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18</a:t>
            </a:fld>
            <a:endParaRPr/>
          </a:p>
        </p:txBody>
      </p:sp>
    </p:spTree>
    <p:extLst>
      <p:ext uri="{BB962C8B-B14F-4D97-AF65-F5344CB8AC3E}">
        <p14:creationId xmlns:p14="http://schemas.microsoft.com/office/powerpoint/2010/main" val="1095483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904492FF-0900-7916-3319-02B2DDA76C55}"/>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3FCB78F3-532D-811E-3CF2-A756EC146A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C29FE57B-A2A5-4C70-AD32-318862139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6FAD7375-0E86-70A5-695B-4B86A091E213}"/>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19</a:t>
            </a:fld>
            <a:endParaRPr/>
          </a:p>
        </p:txBody>
      </p:sp>
    </p:spTree>
    <p:extLst>
      <p:ext uri="{BB962C8B-B14F-4D97-AF65-F5344CB8AC3E}">
        <p14:creationId xmlns:p14="http://schemas.microsoft.com/office/powerpoint/2010/main" val="25944967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A1A14C2A-1179-F839-056B-9B9140C84E38}"/>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5D8E9C9B-F389-44D0-B866-A40BD42A5D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497E53F2-8823-0D54-C9A7-BA1F069C2A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6DA86C17-1C93-1F4A-2F90-EC53A47B9CC4}"/>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20</a:t>
            </a:fld>
            <a:endParaRPr/>
          </a:p>
        </p:txBody>
      </p:sp>
    </p:spTree>
    <p:extLst>
      <p:ext uri="{BB962C8B-B14F-4D97-AF65-F5344CB8AC3E}">
        <p14:creationId xmlns:p14="http://schemas.microsoft.com/office/powerpoint/2010/main" val="1072458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83C39D07-CFEF-B765-3423-0092F0D1749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34A4D830-5F86-6C8F-F169-0A0121EC7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AA7CC200-17C1-2732-2A23-DF521445F3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FBF78046-50E4-6F1C-EED9-01E3447568F6}"/>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21</a:t>
            </a:fld>
            <a:endParaRPr/>
          </a:p>
        </p:txBody>
      </p:sp>
    </p:spTree>
    <p:extLst>
      <p:ext uri="{BB962C8B-B14F-4D97-AF65-F5344CB8AC3E}">
        <p14:creationId xmlns:p14="http://schemas.microsoft.com/office/powerpoint/2010/main" val="286601901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90A2A4CE-318D-1AF3-1FF7-94790EE9A18B}"/>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9AAA0009-82CD-1562-446E-7A87EC391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33FCC2E3-39A4-58A6-7739-E3396BBC7E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1022C603-56A9-5CBE-5DC6-A79C9606E5B7}"/>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22</a:t>
            </a:fld>
            <a:endParaRPr/>
          </a:p>
        </p:txBody>
      </p:sp>
    </p:spTree>
    <p:extLst>
      <p:ext uri="{BB962C8B-B14F-4D97-AF65-F5344CB8AC3E}">
        <p14:creationId xmlns:p14="http://schemas.microsoft.com/office/powerpoint/2010/main" val="5898069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90918C47-3315-9206-CDB7-740108DDAFE5}"/>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538A84BA-CBC2-5431-136C-C22EC10B30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DD7385D9-FD1B-DD9B-8FC6-ECA16E19E0C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DAEB207E-B5FE-B8E5-2664-78B3D6FBF9AF}"/>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23</a:t>
            </a:fld>
            <a:endParaRPr/>
          </a:p>
        </p:txBody>
      </p:sp>
    </p:spTree>
    <p:extLst>
      <p:ext uri="{BB962C8B-B14F-4D97-AF65-F5344CB8AC3E}">
        <p14:creationId xmlns:p14="http://schemas.microsoft.com/office/powerpoint/2010/main" val="30591125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98CF0EB1-58A4-A623-5FC4-A03F3FF341D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F439A0BE-4073-3E8D-C401-0206C20736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234D0F9F-F845-013C-8C7E-B6615490B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18A32E42-169D-5ACB-6D2C-968CA3EE2987}"/>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24</a:t>
            </a:fld>
            <a:endParaRPr/>
          </a:p>
        </p:txBody>
      </p:sp>
    </p:spTree>
    <p:extLst>
      <p:ext uri="{BB962C8B-B14F-4D97-AF65-F5344CB8AC3E}">
        <p14:creationId xmlns:p14="http://schemas.microsoft.com/office/powerpoint/2010/main" val="41938307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98CF0EB1-58A4-A623-5FC4-A03F3FF341D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F439A0BE-4073-3E8D-C401-0206C20736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234D0F9F-F845-013C-8C7E-B6615490B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18A32E42-169D-5ACB-6D2C-968CA3EE2987}"/>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25</a:t>
            </a:fld>
            <a:endParaRPr/>
          </a:p>
        </p:txBody>
      </p:sp>
    </p:spTree>
    <p:extLst>
      <p:ext uri="{BB962C8B-B14F-4D97-AF65-F5344CB8AC3E}">
        <p14:creationId xmlns:p14="http://schemas.microsoft.com/office/powerpoint/2010/main" val="36596454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98CF0EB1-58A4-A623-5FC4-A03F3FF341D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F439A0BE-4073-3E8D-C401-0206C20736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234D0F9F-F845-013C-8C7E-B6615490B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18A32E42-169D-5ACB-6D2C-968CA3EE2987}"/>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26</a:t>
            </a:fld>
            <a:endParaRPr/>
          </a:p>
        </p:txBody>
      </p:sp>
    </p:spTree>
    <p:extLst>
      <p:ext uri="{BB962C8B-B14F-4D97-AF65-F5344CB8AC3E}">
        <p14:creationId xmlns:p14="http://schemas.microsoft.com/office/powerpoint/2010/main" val="5104194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98CF0EB1-58A4-A623-5FC4-A03F3FF341D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F439A0BE-4073-3E8D-C401-0206C20736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234D0F9F-F845-013C-8C7E-B6615490B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18A32E42-169D-5ACB-6D2C-968CA3EE2987}"/>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27</a:t>
            </a:fld>
            <a:endParaRPr/>
          </a:p>
        </p:txBody>
      </p:sp>
    </p:spTree>
    <p:extLst>
      <p:ext uri="{BB962C8B-B14F-4D97-AF65-F5344CB8AC3E}">
        <p14:creationId xmlns:p14="http://schemas.microsoft.com/office/powerpoint/2010/main" val="10796249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98CF0EB1-58A4-A623-5FC4-A03F3FF341D1}"/>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F439A0BE-4073-3E8D-C401-0206C20736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234D0F9F-F845-013C-8C7E-B6615490B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18A32E42-169D-5ACB-6D2C-968CA3EE2987}"/>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28</a:t>
            </a:fld>
            <a:endParaRPr/>
          </a:p>
        </p:txBody>
      </p:sp>
    </p:spTree>
    <p:extLst>
      <p:ext uri="{BB962C8B-B14F-4D97-AF65-F5344CB8AC3E}">
        <p14:creationId xmlns:p14="http://schemas.microsoft.com/office/powerpoint/2010/main" val="176754000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2E19BBA0-0325-89D1-9825-06BFDD7AA018}"/>
            </a:ext>
          </a:extLst>
        </p:cNvPr>
        <p:cNvGrpSpPr/>
        <p:nvPr/>
      </p:nvGrpSpPr>
      <p:grpSpPr>
        <a:xfrm>
          <a:off x="0" y="0"/>
          <a:ext cx="0" cy="0"/>
          <a:chOff x="0" y="0"/>
          <a:chExt cx="0" cy="0"/>
        </a:xfrm>
      </p:grpSpPr>
      <p:sp>
        <p:nvSpPr>
          <p:cNvPr id="100" name="Google Shape;100;p2:notes">
            <a:extLst>
              <a:ext uri="{FF2B5EF4-FFF2-40B4-BE49-F238E27FC236}">
                <a16:creationId xmlns:a16="http://schemas.microsoft.com/office/drawing/2014/main" id="{4D5B089F-1511-4B42-FEA5-D53CAB1C5F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a:extLst>
              <a:ext uri="{FF2B5EF4-FFF2-40B4-BE49-F238E27FC236}">
                <a16:creationId xmlns:a16="http://schemas.microsoft.com/office/drawing/2014/main" id="{0ACFC317-007B-300F-B6D7-B254AEF0D8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Preferire un carattere sans serif come Arial, Helvetica o Verdana. Font consigliabile da 30 a 40 pt.</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Allineare i testi a sinistra, non giustificarli. </a:t>
            </a:r>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Utilizzare non più di tre blocchi di informazione di massimo 2/3 righe ciascuno.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Per evidenziare titoli o parole chiave, prediligere l’uso del grassetto a corsivo o colori. </a:t>
            </a:r>
            <a:endParaRPr sz="1200" b="0" i="0" u="none" strike="noStrik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200"/>
              <a:buFont typeface="Calibri"/>
              <a:buNone/>
            </a:pPr>
            <a:r>
              <a:rPr lang="it-IT" sz="1200" b="0" i="0" u="none" strike="noStrike">
                <a:solidFill>
                  <a:schemeClr val="dk1"/>
                </a:solidFill>
                <a:latin typeface="Calibri"/>
                <a:ea typeface="Calibri"/>
                <a:cs typeface="Calibri"/>
                <a:sym typeface="Calibri"/>
              </a:rPr>
              <a:t>Prediligere testo nero su sfondo bianco.</a:t>
            </a:r>
            <a:endParaRPr sz="1200" b="0" i="0" u="none" strike="noStrike">
              <a:solidFill>
                <a:schemeClr val="dk1"/>
              </a:solidFill>
              <a:latin typeface="Calibri"/>
              <a:ea typeface="Calibri"/>
              <a:cs typeface="Calibri"/>
              <a:sym typeface="Calibri"/>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Evitare ombre, sfumature e gradazioni di grigio.</a:t>
            </a:r>
            <a:endParaRPr/>
          </a:p>
          <a:p>
            <a:pPr marL="0" lvl="0" indent="0" algn="l" rtl="0">
              <a:spcBef>
                <a:spcPts val="0"/>
              </a:spcBef>
              <a:spcAft>
                <a:spcPts val="0"/>
              </a:spcAft>
              <a:buNone/>
            </a:pPr>
            <a:r>
              <a:rPr lang="it-IT" sz="1200" b="0" i="0" u="none" strike="noStrike">
                <a:solidFill>
                  <a:schemeClr val="dk1"/>
                </a:solidFill>
                <a:latin typeface="Calibri"/>
                <a:ea typeface="Calibri"/>
                <a:cs typeface="Calibri"/>
                <a:sym typeface="Calibri"/>
              </a:rPr>
              <a:t>Secondo le linee guida sull’accessibilità, prestare attenzione ai contrasti tra i colori di sfondo e il testo.</a:t>
            </a:r>
            <a:endParaRPr/>
          </a:p>
        </p:txBody>
      </p:sp>
      <p:sp>
        <p:nvSpPr>
          <p:cNvPr id="102" name="Google Shape;102;p2:notes">
            <a:extLst>
              <a:ext uri="{FF2B5EF4-FFF2-40B4-BE49-F238E27FC236}">
                <a16:creationId xmlns:a16="http://schemas.microsoft.com/office/drawing/2014/main" id="{2851E2A1-6AC3-69D2-C43D-CFA1F1D3E690}"/>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29</a:t>
            </a:fld>
            <a:endParaRPr/>
          </a:p>
        </p:txBody>
      </p:sp>
    </p:spTree>
    <p:extLst>
      <p:ext uri="{BB962C8B-B14F-4D97-AF65-F5344CB8AC3E}">
        <p14:creationId xmlns:p14="http://schemas.microsoft.com/office/powerpoint/2010/main" val="6541287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6" name="Google Shape;176;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it-IT"/>
              <a:t>30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olo e testo verticale">
  <p:cSld name="2_Titolo e testo verticale">
    <p:spTree>
      <p:nvGrpSpPr>
        <p:cNvPr id="1" name="Shape 15"/>
        <p:cNvGrpSpPr/>
        <p:nvPr/>
      </p:nvGrpSpPr>
      <p:grpSpPr>
        <a:xfrm>
          <a:off x="0" y="0"/>
          <a:ext cx="0" cy="0"/>
          <a:chOff x="0" y="0"/>
          <a:chExt cx="0" cy="0"/>
        </a:xfrm>
      </p:grpSpPr>
      <p:sp>
        <p:nvSpPr>
          <p:cNvPr id="16" name="Google Shape;16;p16"/>
          <p:cNvSpPr/>
          <p:nvPr/>
        </p:nvSpPr>
        <p:spPr>
          <a:xfrm>
            <a:off x="0" y="0"/>
            <a:ext cx="12192000" cy="6858000"/>
          </a:xfrm>
          <a:prstGeom prst="rect">
            <a:avLst/>
          </a:prstGeom>
          <a:solidFill>
            <a:srgbClr val="AA0004"/>
          </a:solidFill>
          <a:ln>
            <a:noFill/>
          </a:ln>
        </p:spPr>
        <p:txBody>
          <a:bodyPr spcFirstLastPara="1" wrap="square" lIns="91425" tIns="45700" rIns="360000" bIns="45700" anchor="ctr" anchorCtr="0">
            <a:noAutofit/>
          </a:bodyPr>
          <a:lstStyle/>
          <a:p>
            <a:pPr marL="0" marR="0" lvl="0" indent="0" algn="r" rtl="0">
              <a:spcBef>
                <a:spcPts val="0"/>
              </a:spcBef>
              <a:spcAft>
                <a:spcPts val="0"/>
              </a:spcAft>
              <a:buNone/>
            </a:pPr>
            <a:r>
              <a:rPr lang="it-IT" sz="2400" b="1" i="0" u="none" strike="noStrike" cap="none">
                <a:solidFill>
                  <a:schemeClr val="lt1"/>
                </a:solidFill>
                <a:latin typeface="Arial"/>
                <a:ea typeface="Arial"/>
                <a:cs typeface="Arial"/>
                <a:sym typeface="Arial"/>
              </a:rPr>
              <a:t>  </a:t>
            </a:r>
            <a:endParaRPr/>
          </a:p>
        </p:txBody>
      </p:sp>
      <p:pic>
        <p:nvPicPr>
          <p:cNvPr id="17" name="Google Shape;17;p16"/>
          <p:cNvPicPr preferRelativeResize="0"/>
          <p:nvPr/>
        </p:nvPicPr>
        <p:blipFill rotWithShape="1">
          <a:blip r:embed="rId2">
            <a:alphaModFix/>
          </a:blip>
          <a:srcRect/>
          <a:stretch/>
        </p:blipFill>
        <p:spPr>
          <a:xfrm>
            <a:off x="3741397" y="1159933"/>
            <a:ext cx="4709206" cy="2105037"/>
          </a:xfrm>
          <a:prstGeom prst="rect">
            <a:avLst/>
          </a:prstGeom>
          <a:noFill/>
          <a:ln>
            <a:noFill/>
          </a:ln>
        </p:spPr>
      </p:pic>
      <p:sp>
        <p:nvSpPr>
          <p:cNvPr id="18" name="Google Shape;18;p16"/>
          <p:cNvSpPr txBox="1">
            <a:spLocks noGrp="1"/>
          </p:cNvSpPr>
          <p:nvPr>
            <p:ph type="ctrTitle"/>
          </p:nvPr>
        </p:nvSpPr>
        <p:spPr>
          <a:xfrm>
            <a:off x="1547593" y="3285951"/>
            <a:ext cx="9096815" cy="1290388"/>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4400"/>
              <a:buFont typeface="Arial"/>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16"/>
          <p:cNvSpPr txBox="1">
            <a:spLocks noGrp="1"/>
          </p:cNvSpPr>
          <p:nvPr>
            <p:ph type="body" idx="1"/>
          </p:nvPr>
        </p:nvSpPr>
        <p:spPr>
          <a:xfrm>
            <a:off x="2935526" y="4741032"/>
            <a:ext cx="6320949" cy="758068"/>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chemeClr val="lt1"/>
              </a:buClr>
              <a:buSzPts val="2800"/>
              <a:buNone/>
              <a:defRPr>
                <a:solidFill>
                  <a:schemeClr val="lt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3_Titolo e testo verticale">
  <p:cSld name="3_Titolo e testo verticale">
    <p:spTree>
      <p:nvGrpSpPr>
        <p:cNvPr id="1" name="Shape 20"/>
        <p:cNvGrpSpPr/>
        <p:nvPr/>
      </p:nvGrpSpPr>
      <p:grpSpPr>
        <a:xfrm>
          <a:off x="0" y="0"/>
          <a:ext cx="0" cy="0"/>
          <a:chOff x="0" y="0"/>
          <a:chExt cx="0" cy="0"/>
        </a:xfrm>
      </p:grpSpPr>
      <p:sp>
        <p:nvSpPr>
          <p:cNvPr id="21" name="Google Shape;21;p17"/>
          <p:cNvSpPr/>
          <p:nvPr/>
        </p:nvSpPr>
        <p:spPr>
          <a:xfrm>
            <a:off x="-1" y="0"/>
            <a:ext cx="12192001" cy="1138767"/>
          </a:xfrm>
          <a:prstGeom prst="rect">
            <a:avLst/>
          </a:prstGeom>
          <a:solidFill>
            <a:srgbClr val="AA0004"/>
          </a:solidFill>
          <a:ln>
            <a:noFill/>
          </a:ln>
        </p:spPr>
        <p:txBody>
          <a:bodyPr spcFirstLastPara="1" wrap="square" lIns="72000" tIns="45700" rIns="360000" bIns="45700" anchor="ctr" anchorCtr="0">
            <a:noAutofit/>
          </a:bodyPr>
          <a:lstStyle/>
          <a:p>
            <a:pPr marL="0" marR="0" lvl="0" indent="0" algn="r" rtl="0">
              <a:spcBef>
                <a:spcPts val="0"/>
              </a:spcBef>
              <a:spcAft>
                <a:spcPts val="0"/>
              </a:spcAft>
              <a:buNone/>
            </a:pPr>
            <a:endParaRPr sz="2400" b="1" i="0" u="none" strike="noStrike" cap="none">
              <a:solidFill>
                <a:schemeClr val="lt1"/>
              </a:solidFill>
              <a:latin typeface="Arial"/>
              <a:ea typeface="Arial"/>
              <a:cs typeface="Arial"/>
              <a:sym typeface="Arial"/>
            </a:endParaRPr>
          </a:p>
        </p:txBody>
      </p:sp>
      <p:sp>
        <p:nvSpPr>
          <p:cNvPr id="22" name="Google Shape;22;p17"/>
          <p:cNvSpPr txBox="1">
            <a:spLocks noGrp="1"/>
          </p:cNvSpPr>
          <p:nvPr>
            <p:ph type="title"/>
          </p:nvPr>
        </p:nvSpPr>
        <p:spPr>
          <a:xfrm>
            <a:off x="456000" y="1153221"/>
            <a:ext cx="11736000" cy="11880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3600"/>
              <a:buFont typeface="Arial"/>
              <a:buNone/>
              <a:defRPr sz="3600" b="1">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7"/>
          <p:cNvSpPr txBox="1">
            <a:spLocks noGrp="1"/>
          </p:cNvSpPr>
          <p:nvPr>
            <p:ph type="body" idx="1"/>
          </p:nvPr>
        </p:nvSpPr>
        <p:spPr>
          <a:xfrm>
            <a:off x="6179127" y="2592996"/>
            <a:ext cx="5663346" cy="385955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2800"/>
              <a:buNone/>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17"/>
          <p:cNvSpPr txBox="1">
            <a:spLocks noGrp="1"/>
          </p:cNvSpPr>
          <p:nvPr>
            <p:ph type="body" idx="2"/>
          </p:nvPr>
        </p:nvSpPr>
        <p:spPr>
          <a:xfrm>
            <a:off x="1215640" y="2592996"/>
            <a:ext cx="3781233" cy="179427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2800"/>
              <a:buNone/>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5" name="Google Shape;25;p17"/>
          <p:cNvSpPr txBox="1">
            <a:spLocks noGrp="1"/>
          </p:cNvSpPr>
          <p:nvPr>
            <p:ph type="body" idx="3"/>
          </p:nvPr>
        </p:nvSpPr>
        <p:spPr>
          <a:xfrm>
            <a:off x="1215640" y="4777396"/>
            <a:ext cx="3781234" cy="179427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2800"/>
              <a:buNone/>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6" name="Google Shape;26;p17"/>
          <p:cNvPicPr preferRelativeResize="0"/>
          <p:nvPr/>
        </p:nvPicPr>
        <p:blipFill rotWithShape="1">
          <a:blip r:embed="rId2">
            <a:alphaModFix/>
          </a:blip>
          <a:srcRect/>
          <a:stretch/>
        </p:blipFill>
        <p:spPr>
          <a:xfrm>
            <a:off x="456000" y="147563"/>
            <a:ext cx="1885998" cy="843049"/>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olo e testo verticale">
  <p:cSld name="Titolo e testo verticale">
    <p:spTree>
      <p:nvGrpSpPr>
        <p:cNvPr id="1" name="Shape 27"/>
        <p:cNvGrpSpPr/>
        <p:nvPr/>
      </p:nvGrpSpPr>
      <p:grpSpPr>
        <a:xfrm>
          <a:off x="0" y="0"/>
          <a:ext cx="0" cy="0"/>
          <a:chOff x="0" y="0"/>
          <a:chExt cx="0" cy="0"/>
        </a:xfrm>
      </p:grpSpPr>
      <p:sp>
        <p:nvSpPr>
          <p:cNvPr id="28" name="Google Shape;28;p18"/>
          <p:cNvSpPr/>
          <p:nvPr/>
        </p:nvSpPr>
        <p:spPr>
          <a:xfrm>
            <a:off x="0" y="0"/>
            <a:ext cx="12192000" cy="6858000"/>
          </a:xfrm>
          <a:prstGeom prst="rect">
            <a:avLst/>
          </a:prstGeom>
          <a:solidFill>
            <a:srgbClr val="AA0004"/>
          </a:solidFill>
          <a:ln>
            <a:noFill/>
          </a:ln>
        </p:spPr>
        <p:txBody>
          <a:bodyPr spcFirstLastPara="1" wrap="square" lIns="91425" tIns="45700" rIns="360000" bIns="45700" anchor="ctr" anchorCtr="0">
            <a:noAutofit/>
          </a:bodyPr>
          <a:lstStyle/>
          <a:p>
            <a:pPr marL="0" marR="0" lvl="0" indent="0" algn="r" rtl="0">
              <a:spcBef>
                <a:spcPts val="0"/>
              </a:spcBef>
              <a:spcAft>
                <a:spcPts val="0"/>
              </a:spcAft>
              <a:buNone/>
            </a:pPr>
            <a:endParaRPr sz="2400" b="1">
              <a:solidFill>
                <a:schemeClr val="lt1"/>
              </a:solidFill>
              <a:latin typeface="Arial"/>
              <a:ea typeface="Arial"/>
              <a:cs typeface="Arial"/>
              <a:sym typeface="Arial"/>
            </a:endParaRPr>
          </a:p>
        </p:txBody>
      </p:sp>
      <p:pic>
        <p:nvPicPr>
          <p:cNvPr id="29" name="Google Shape;29;p18"/>
          <p:cNvPicPr preferRelativeResize="0"/>
          <p:nvPr/>
        </p:nvPicPr>
        <p:blipFill rotWithShape="1">
          <a:blip r:embed="rId2">
            <a:alphaModFix/>
          </a:blip>
          <a:srcRect/>
          <a:stretch/>
        </p:blipFill>
        <p:spPr>
          <a:xfrm>
            <a:off x="3501098" y="2269067"/>
            <a:ext cx="5189805" cy="2319867"/>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apositiva titolo" type="title">
  <p:cSld name="TITLE">
    <p:spTree>
      <p:nvGrpSpPr>
        <p:cNvPr id="1" name="Shape 30"/>
        <p:cNvGrpSpPr/>
        <p:nvPr/>
      </p:nvGrpSpPr>
      <p:grpSpPr>
        <a:xfrm>
          <a:off x="0" y="0"/>
          <a:ext cx="0" cy="0"/>
          <a:chOff x="0" y="0"/>
          <a:chExt cx="0" cy="0"/>
        </a:xfrm>
      </p:grpSpPr>
      <p:sp>
        <p:nvSpPr>
          <p:cNvPr id="31" name="Google Shape;31;p19"/>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1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3" name="Google Shape;33;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olo e contenuto" type="obj">
  <p:cSld name="OBJECT">
    <p:spTree>
      <p:nvGrpSpPr>
        <p:cNvPr id="1" name="Shape 36"/>
        <p:cNvGrpSpPr/>
        <p:nvPr/>
      </p:nvGrpSpPr>
      <p:grpSpPr>
        <a:xfrm>
          <a:off x="0" y="0"/>
          <a:ext cx="0" cy="0"/>
          <a:chOff x="0" y="0"/>
          <a:chExt cx="0" cy="0"/>
        </a:xfrm>
      </p:grpSpPr>
      <p:sp>
        <p:nvSpPr>
          <p:cNvPr id="37" name="Google Shape;37;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Intestazione sezione" type="secHead">
  <p:cSld name="SECTION_HEADER">
    <p:spTree>
      <p:nvGrpSpPr>
        <p:cNvPr id="1" name="Shape 42"/>
        <p:cNvGrpSpPr/>
        <p:nvPr/>
      </p:nvGrpSpPr>
      <p:grpSpPr>
        <a:xfrm>
          <a:off x="0" y="0"/>
          <a:ext cx="0" cy="0"/>
          <a:chOff x="0" y="0"/>
          <a:chExt cx="0" cy="0"/>
        </a:xfrm>
      </p:grpSpPr>
      <p:sp>
        <p:nvSpPr>
          <p:cNvPr id="43" name="Google Shape;43;p2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2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5" name="Google Shape;45;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 name="Google Shape;46;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Due contenuti" type="twoObj">
  <p:cSld name="TWO_OBJECTS">
    <p:spTree>
      <p:nvGrpSpPr>
        <p:cNvPr id="1" name="Shape 48"/>
        <p:cNvGrpSpPr/>
        <p:nvPr/>
      </p:nvGrpSpPr>
      <p:grpSpPr>
        <a:xfrm>
          <a:off x="0" y="0"/>
          <a:ext cx="0" cy="0"/>
          <a:chOff x="0" y="0"/>
          <a:chExt cx="0" cy="0"/>
        </a:xfrm>
      </p:grpSpPr>
      <p:sp>
        <p:nvSpPr>
          <p:cNvPr id="49" name="Google Shape;49;p2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 name="Google Shape;50;p22"/>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22"/>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fronto" type="twoTxTwoObj">
  <p:cSld name="TWO_OBJECTS_WITH_TEXT">
    <p:spTree>
      <p:nvGrpSpPr>
        <p:cNvPr id="1" name="Shape 55"/>
        <p:cNvGrpSpPr/>
        <p:nvPr/>
      </p:nvGrpSpPr>
      <p:grpSpPr>
        <a:xfrm>
          <a:off x="0" y="0"/>
          <a:ext cx="0" cy="0"/>
          <a:chOff x="0" y="0"/>
          <a:chExt cx="0" cy="0"/>
        </a:xfrm>
      </p:grpSpPr>
      <p:sp>
        <p:nvSpPr>
          <p:cNvPr id="56" name="Google Shape;56;p23"/>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 name="Google Shape;57;p2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8" name="Google Shape;58;p2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2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0" name="Google Shape;60;p2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1" name="Google Shape;61;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olo titolo" type="titleOnly">
  <p:cSld name="TITLE_ONLY">
    <p:spTree>
      <p:nvGrpSpPr>
        <p:cNvPr id="1" name="Shape 64"/>
        <p:cNvGrpSpPr/>
        <p:nvPr/>
      </p:nvGrpSpPr>
      <p:grpSpPr>
        <a:xfrm>
          <a:off x="0" y="0"/>
          <a:ext cx="0" cy="0"/>
          <a:chOff x="0" y="0"/>
          <a:chExt cx="0" cy="0"/>
        </a:xfrm>
      </p:grpSpPr>
      <p:sp>
        <p:nvSpPr>
          <p:cNvPr id="65" name="Google Shape;65;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 name="Google Shape;6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uota" type="blank">
  <p:cSld name="BLANK">
    <p:spTree>
      <p:nvGrpSpPr>
        <p:cNvPr id="1" name="Shape 69"/>
        <p:cNvGrpSpPr/>
        <p:nvPr/>
      </p:nvGrpSpPr>
      <p:grpSpPr>
        <a:xfrm>
          <a:off x="0" y="0"/>
          <a:ext cx="0" cy="0"/>
          <a:chOff x="0" y="0"/>
          <a:chExt cx="0" cy="0"/>
        </a:xfrm>
      </p:grpSpPr>
      <p:sp>
        <p:nvSpPr>
          <p:cNvPr id="70" name="Google Shape;70;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uto con didascalia" type="objTx">
  <p:cSld name="OBJECT_WITH_CAPTION_TEXT">
    <p:spTree>
      <p:nvGrpSpPr>
        <p:cNvPr id="1" name="Shape 73"/>
        <p:cNvGrpSpPr/>
        <p:nvPr/>
      </p:nvGrpSpPr>
      <p:grpSpPr>
        <a:xfrm>
          <a:off x="0" y="0"/>
          <a:ext cx="0" cy="0"/>
          <a:chOff x="0" y="0"/>
          <a:chExt cx="0" cy="0"/>
        </a:xfrm>
      </p:grpSpPr>
      <p:sp>
        <p:nvSpPr>
          <p:cNvPr id="74" name="Google Shape;74;p2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5" name="Google Shape;75;p26"/>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6" name="Google Shape;76;p2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7" name="Google Shape;77;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magine con didascalia" type="picTx">
  <p:cSld name="PICTURE_WITH_CAPTION_TEXT">
    <p:spTree>
      <p:nvGrpSpPr>
        <p:cNvPr id="1" name="Shape 80"/>
        <p:cNvGrpSpPr/>
        <p:nvPr/>
      </p:nvGrpSpPr>
      <p:grpSpPr>
        <a:xfrm>
          <a:off x="0" y="0"/>
          <a:ext cx="0" cy="0"/>
          <a:chOff x="0" y="0"/>
          <a:chExt cx="0" cy="0"/>
        </a:xfrm>
      </p:grpSpPr>
      <p:sp>
        <p:nvSpPr>
          <p:cNvPr id="81" name="Google Shape;81;p2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27"/>
          <p:cNvSpPr>
            <a:spLocks noGrp="1"/>
          </p:cNvSpPr>
          <p:nvPr>
            <p:ph type="pic" idx="2"/>
          </p:nvPr>
        </p:nvSpPr>
        <p:spPr>
          <a:xfrm>
            <a:off x="5183188" y="987425"/>
            <a:ext cx="6172200" cy="4873625"/>
          </a:xfrm>
          <a:prstGeom prst="rect">
            <a:avLst/>
          </a:prstGeom>
          <a:noFill/>
          <a:ln>
            <a:noFill/>
          </a:ln>
        </p:spPr>
      </p:sp>
      <p:sp>
        <p:nvSpPr>
          <p:cNvPr id="83" name="Google Shape;83;p2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4" name="Google Shape;84;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Layout personalizzato">
  <p:cSld name="Layout personalizzato">
    <p:spTree>
      <p:nvGrpSpPr>
        <p:cNvPr id="1" name="Shape 87"/>
        <p:cNvGrpSpPr/>
        <p:nvPr/>
      </p:nvGrpSpPr>
      <p:grpSpPr>
        <a:xfrm>
          <a:off x="0" y="0"/>
          <a:ext cx="0" cy="0"/>
          <a:chOff x="0" y="0"/>
          <a:chExt cx="0" cy="0"/>
        </a:xfrm>
      </p:grpSpPr>
      <p:sp>
        <p:nvSpPr>
          <p:cNvPr id="88" name="Google Shape;88;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0" name="Google Shape;90;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it-IT"/>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 name="Google Shape;14;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it-IT"/>
              <a:t>‹N›</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5.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microsoft.com/office/2007/relationships/hdphoto" Target="../media/hdphoto3.wdp"/></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microsoft.com/office/2007/relationships/hdphoto" Target="../media/hdphoto4.wdp"/></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microsoft.com/office/2007/relationships/hdphoto" Target="../media/hdphoto5.wdp"/></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microsoft.com/office/2007/relationships/hdphoto" Target="../media/hdphoto6.wdp"/></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microsoft.com/office/2007/relationships/media" Target="../media/media2.mp4"/><Relationship Id="rId1" Type="http://schemas.openxmlformats.org/officeDocument/2006/relationships/video" Target="NULL" TargetMode="External"/><Relationship Id="rId5" Type="http://schemas.openxmlformats.org/officeDocument/2006/relationships/image" Target="../media/image26.png"/><Relationship Id="rId4"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microsoft.com/office/2007/relationships/media" Target="../media/media3.mp4"/><Relationship Id="rId1" Type="http://schemas.openxmlformats.org/officeDocument/2006/relationships/video" Target="NULL" TargetMode="External"/><Relationship Id="rId5" Type="http://schemas.openxmlformats.org/officeDocument/2006/relationships/image" Target="../media/image29.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microsoft.com/office/2007/relationships/hdphoto" Target="../media/hdphoto8.wdp"/></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31.png"/><Relationship Id="rId4"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
          <p:cNvSpPr txBox="1">
            <a:spLocks noGrp="1"/>
          </p:cNvSpPr>
          <p:nvPr>
            <p:ph type="ctrTitle"/>
          </p:nvPr>
        </p:nvSpPr>
        <p:spPr>
          <a:xfrm>
            <a:off x="1547593" y="3285951"/>
            <a:ext cx="9096815" cy="1290388"/>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1"/>
              </a:buClr>
              <a:buSzPts val="4400"/>
              <a:buFont typeface="Arial"/>
              <a:buNone/>
            </a:pPr>
            <a:r>
              <a:rPr lang="it-IT"/>
              <a:t>Progetto di Simulazione Multi-body</a:t>
            </a:r>
            <a:endParaRPr lang="it-IT" dirty="0"/>
          </a:p>
        </p:txBody>
      </p:sp>
      <p:sp>
        <p:nvSpPr>
          <p:cNvPr id="98" name="Google Shape;98;p1"/>
          <p:cNvSpPr txBox="1">
            <a:spLocks noGrp="1"/>
          </p:cNvSpPr>
          <p:nvPr>
            <p:ph type="body" idx="1"/>
          </p:nvPr>
        </p:nvSpPr>
        <p:spPr>
          <a:xfrm>
            <a:off x="2935526" y="4741032"/>
            <a:ext cx="6320949" cy="758068"/>
          </a:xfrm>
          <a:prstGeom prst="rect">
            <a:avLst/>
          </a:prstGeom>
          <a:noFill/>
          <a:ln>
            <a:noFill/>
          </a:ln>
        </p:spPr>
        <p:txBody>
          <a:bodyPr spcFirstLastPara="1" wrap="square" lIns="91425" tIns="45700" rIns="91425" bIns="45700" anchor="t" anchorCtr="0">
            <a:normAutofit fontScale="85000" lnSpcReduction="10000"/>
          </a:bodyPr>
          <a:lstStyle/>
          <a:p>
            <a:pPr marL="0" lvl="0" indent="0" algn="ctr" rtl="0">
              <a:lnSpc>
                <a:spcPct val="90000"/>
              </a:lnSpc>
              <a:spcBef>
                <a:spcPts val="0"/>
              </a:spcBef>
              <a:spcAft>
                <a:spcPts val="0"/>
              </a:spcAft>
              <a:buClr>
                <a:schemeClr val="lt1"/>
              </a:buClr>
              <a:buSzPts val="3200"/>
              <a:buNone/>
            </a:pPr>
            <a:r>
              <a:rPr lang="it-IT" sz="3200"/>
              <a:t>Dimensionamento di un meccanismo articolato per lo spostamento di oggetti</a:t>
            </a:r>
            <a:endParaRPr lang="it-IT" sz="3200" dirty="0"/>
          </a:p>
        </p:txBody>
      </p:sp>
      <p:grpSp>
        <p:nvGrpSpPr>
          <p:cNvPr id="4" name="Gruppo 3">
            <a:extLst>
              <a:ext uri="{FF2B5EF4-FFF2-40B4-BE49-F238E27FC236}">
                <a16:creationId xmlns:a16="http://schemas.microsoft.com/office/drawing/2014/main" id="{C8400B53-9A39-060D-F684-362AE70DC7C3}"/>
              </a:ext>
            </a:extLst>
          </p:cNvPr>
          <p:cNvGrpSpPr/>
          <p:nvPr/>
        </p:nvGrpSpPr>
        <p:grpSpPr>
          <a:xfrm>
            <a:off x="0" y="6550222"/>
            <a:ext cx="12192000" cy="307778"/>
            <a:chOff x="0" y="6550222"/>
            <a:chExt cx="12192000" cy="307778"/>
          </a:xfrm>
        </p:grpSpPr>
        <p:sp>
          <p:nvSpPr>
            <p:cNvPr id="2" name="CasellaDiTesto 1">
              <a:extLst>
                <a:ext uri="{FF2B5EF4-FFF2-40B4-BE49-F238E27FC236}">
                  <a16:creationId xmlns:a16="http://schemas.microsoft.com/office/drawing/2014/main" id="{3127BE94-8877-00B6-1FA6-538236908BED}"/>
                </a:ext>
              </a:extLst>
            </p:cNvPr>
            <p:cNvSpPr txBox="1"/>
            <p:nvPr/>
          </p:nvSpPr>
          <p:spPr>
            <a:xfrm>
              <a:off x="0" y="6550222"/>
              <a:ext cx="2202426" cy="307777"/>
            </a:xfrm>
            <a:prstGeom prst="rect">
              <a:avLst/>
            </a:prstGeom>
            <a:noFill/>
          </p:spPr>
          <p:txBody>
            <a:bodyPr wrap="square" rtlCol="0">
              <a:spAutoFit/>
            </a:bodyPr>
            <a:lstStyle/>
            <a:p>
              <a:r>
                <a:rPr lang="it-IT" dirty="0">
                  <a:solidFill>
                    <a:schemeClr val="bg1"/>
                  </a:solidFill>
                </a:rPr>
                <a:t>Luca Cannone, 2072787</a:t>
              </a:r>
            </a:p>
          </p:txBody>
        </p:sp>
        <p:sp>
          <p:nvSpPr>
            <p:cNvPr id="3" name="CasellaDiTesto 2">
              <a:extLst>
                <a:ext uri="{FF2B5EF4-FFF2-40B4-BE49-F238E27FC236}">
                  <a16:creationId xmlns:a16="http://schemas.microsoft.com/office/drawing/2014/main" id="{F1E0FA53-A11A-BDED-6B29-C89FDB7E6373}"/>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bg1"/>
                  </a:solidFill>
                </a:rPr>
                <a:t>Corso di Simulazione di Sistemi Multi-body, AA. 2024-25</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5" name="Google Shape;105;p2"/>
          <p:cNvSpPr txBox="1">
            <a:spLocks noGrp="1"/>
          </p:cNvSpPr>
          <p:nvPr>
            <p:ph type="body" idx="4294967295"/>
          </p:nvPr>
        </p:nvSpPr>
        <p:spPr>
          <a:xfrm>
            <a:off x="5609902" y="1644322"/>
            <a:ext cx="6123100" cy="4181291"/>
          </a:xfrm>
          <a:prstGeom prst="rect">
            <a:avLst/>
          </a:prstGeom>
          <a:noFill/>
          <a:ln>
            <a:noFill/>
          </a:ln>
        </p:spPr>
        <p:txBody>
          <a:bodyPr spcFirstLastPara="1" wrap="square" lIns="91425" tIns="45700" rIns="91425" bIns="45700" anchor="t" anchorCtr="0">
            <a:normAutofit fontScale="92500"/>
          </a:bodyPr>
          <a:lstStyle/>
          <a:p>
            <a:pPr marL="0" lvl="0" indent="0" algn="l" rtl="0">
              <a:lnSpc>
                <a:spcPct val="90000"/>
              </a:lnSpc>
              <a:spcBef>
                <a:spcPts val="0"/>
              </a:spcBef>
              <a:spcAft>
                <a:spcPts val="0"/>
              </a:spcAft>
              <a:buClr>
                <a:schemeClr val="dk1"/>
              </a:buClr>
              <a:buSzPts val="3200"/>
              <a:buNone/>
            </a:pPr>
            <a:r>
              <a:rPr lang="it-IT" dirty="0"/>
              <a:t>Sono fissati i parametri:</a:t>
            </a:r>
          </a:p>
          <a:p>
            <a:pPr lvl="0" indent="-457200" algn="l" rtl="0">
              <a:lnSpc>
                <a:spcPct val="90000"/>
              </a:lnSpc>
              <a:spcBef>
                <a:spcPts val="0"/>
              </a:spcBef>
              <a:spcAft>
                <a:spcPts val="0"/>
              </a:spcAft>
              <a:buClr>
                <a:schemeClr val="dk1"/>
              </a:buClr>
              <a:buSzPts val="3200"/>
              <a:buFontTx/>
              <a:buChar char="-"/>
            </a:pPr>
            <a:r>
              <a:rPr lang="it-IT" dirty="0"/>
              <a:t>massa del pacco M;</a:t>
            </a:r>
          </a:p>
          <a:p>
            <a:pPr lvl="0" indent="-457200" algn="l" rtl="0">
              <a:lnSpc>
                <a:spcPct val="90000"/>
              </a:lnSpc>
              <a:spcBef>
                <a:spcPts val="0"/>
              </a:spcBef>
              <a:spcAft>
                <a:spcPts val="0"/>
              </a:spcAft>
              <a:buClr>
                <a:schemeClr val="dk1"/>
              </a:buClr>
              <a:buSzPts val="3200"/>
              <a:buFontTx/>
              <a:buChar char="-"/>
            </a:pPr>
            <a:r>
              <a:rPr lang="it-IT" dirty="0"/>
              <a:t>coefficiente di attrito tra pacco e piano di scorrimento </a:t>
            </a:r>
            <a:r>
              <a:rPr lang="it-IT" dirty="0" err="1"/>
              <a:t>f</a:t>
            </a:r>
            <a:r>
              <a:rPr lang="it-IT" baseline="-10000" dirty="0" err="1"/>
              <a:t>cou</a:t>
            </a:r>
            <a:r>
              <a:rPr lang="it-IT" baseline="-10000" dirty="0"/>
              <a:t>;</a:t>
            </a:r>
          </a:p>
          <a:p>
            <a:pPr lvl="0" indent="-457200" algn="l" rtl="0">
              <a:lnSpc>
                <a:spcPct val="90000"/>
              </a:lnSpc>
              <a:spcBef>
                <a:spcPts val="0"/>
              </a:spcBef>
              <a:spcAft>
                <a:spcPts val="0"/>
              </a:spcAft>
              <a:buClr>
                <a:schemeClr val="dk1"/>
              </a:buClr>
              <a:buSzPts val="3200"/>
              <a:buFontTx/>
              <a:buChar char="-"/>
            </a:pPr>
            <a:r>
              <a:rPr lang="it-IT" dirty="0"/>
              <a:t>la velocità di rotazione della manovella CB ꞷ;</a:t>
            </a:r>
          </a:p>
          <a:p>
            <a:pPr lvl="0" indent="-457200" algn="l" rtl="0">
              <a:lnSpc>
                <a:spcPct val="90000"/>
              </a:lnSpc>
              <a:spcBef>
                <a:spcPts val="0"/>
              </a:spcBef>
              <a:spcAft>
                <a:spcPts val="0"/>
              </a:spcAft>
              <a:buClr>
                <a:schemeClr val="dk1"/>
              </a:buClr>
              <a:buSzPts val="3200"/>
              <a:buFontTx/>
              <a:buChar char="-"/>
            </a:pPr>
            <a:r>
              <a:rPr lang="it-IT" dirty="0"/>
              <a:t>La corsa del pattino E: H;</a:t>
            </a:r>
          </a:p>
          <a:p>
            <a:pPr lvl="0" indent="-457200" algn="l" rtl="0">
              <a:lnSpc>
                <a:spcPct val="90000"/>
              </a:lnSpc>
              <a:spcBef>
                <a:spcPts val="0"/>
              </a:spcBef>
              <a:spcAft>
                <a:spcPts val="0"/>
              </a:spcAft>
              <a:buClr>
                <a:schemeClr val="dk1"/>
              </a:buClr>
              <a:buSzPts val="3200"/>
              <a:buFontTx/>
              <a:buChar char="-"/>
            </a:pPr>
            <a:r>
              <a:rPr lang="it-IT" dirty="0"/>
              <a:t>La posizione del pacco rispetto al punto morto inferiore del pattino in relazione alla corsa totale;</a:t>
            </a:r>
          </a:p>
          <a:p>
            <a:pPr lvl="0" indent="-457200" algn="l" rtl="0">
              <a:lnSpc>
                <a:spcPct val="90000"/>
              </a:lnSpc>
              <a:spcBef>
                <a:spcPts val="0"/>
              </a:spcBef>
              <a:spcAft>
                <a:spcPts val="0"/>
              </a:spcAft>
              <a:buClr>
                <a:schemeClr val="dk1"/>
              </a:buClr>
              <a:buSzPts val="3200"/>
              <a:buFontTx/>
              <a:buChar char="-"/>
            </a:pPr>
            <a:r>
              <a:rPr lang="it-IT" dirty="0"/>
              <a:t>Origine del sistema di riferimento: O.</a:t>
            </a:r>
          </a:p>
          <a:p>
            <a:pPr lvl="0" indent="-457200" algn="l" rtl="0">
              <a:lnSpc>
                <a:spcPct val="90000"/>
              </a:lnSpc>
              <a:spcBef>
                <a:spcPts val="0"/>
              </a:spcBef>
              <a:spcAft>
                <a:spcPts val="0"/>
              </a:spcAft>
              <a:buClr>
                <a:schemeClr val="dk1"/>
              </a:buClr>
              <a:buSzPts val="3200"/>
              <a:buFontTx/>
              <a:buChar char="-"/>
            </a:pPr>
            <a:endParaRPr lang="it-IT" dirty="0"/>
          </a:p>
        </p:txBody>
      </p:sp>
      <p:grpSp>
        <p:nvGrpSpPr>
          <p:cNvPr id="5" name="Gruppo 4">
            <a:extLst>
              <a:ext uri="{FF2B5EF4-FFF2-40B4-BE49-F238E27FC236}">
                <a16:creationId xmlns:a16="http://schemas.microsoft.com/office/drawing/2014/main" id="{87759EB1-430B-D350-5782-AB8DF31F4D6D}"/>
              </a:ext>
            </a:extLst>
          </p:cNvPr>
          <p:cNvGrpSpPr/>
          <p:nvPr/>
        </p:nvGrpSpPr>
        <p:grpSpPr>
          <a:xfrm>
            <a:off x="0" y="6550222"/>
            <a:ext cx="12192000" cy="307778"/>
            <a:chOff x="0" y="6550222"/>
            <a:chExt cx="12192000" cy="307778"/>
          </a:xfrm>
        </p:grpSpPr>
        <p:sp>
          <p:nvSpPr>
            <p:cNvPr id="6" name="CasellaDiTesto 5">
              <a:extLst>
                <a:ext uri="{FF2B5EF4-FFF2-40B4-BE49-F238E27FC236}">
                  <a16:creationId xmlns:a16="http://schemas.microsoft.com/office/drawing/2014/main" id="{5E11A9EF-4693-2366-1128-DE7A28EAE172}"/>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7" name="CasellaDiTesto 6">
              <a:extLst>
                <a:ext uri="{FF2B5EF4-FFF2-40B4-BE49-F238E27FC236}">
                  <a16:creationId xmlns:a16="http://schemas.microsoft.com/office/drawing/2014/main" id="{DEC2AD47-75F4-23D3-A42F-097662F1DBED}"/>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9" name="Titolo 8">
            <a:extLst>
              <a:ext uri="{FF2B5EF4-FFF2-40B4-BE49-F238E27FC236}">
                <a16:creationId xmlns:a16="http://schemas.microsoft.com/office/drawing/2014/main" id="{AFCD5B43-758E-625D-3209-B63C01F1B66C}"/>
              </a:ext>
            </a:extLst>
          </p:cNvPr>
          <p:cNvSpPr>
            <a:spLocks noGrp="1"/>
          </p:cNvSpPr>
          <p:nvPr>
            <p:ph type="title"/>
          </p:nvPr>
        </p:nvSpPr>
        <p:spPr>
          <a:xfrm>
            <a:off x="4231587" y="0"/>
            <a:ext cx="7960413" cy="1162268"/>
          </a:xfrm>
        </p:spPr>
        <p:txBody>
          <a:bodyPr/>
          <a:lstStyle/>
          <a:p>
            <a:pPr algn="r"/>
            <a:r>
              <a:rPr lang="it-IT" dirty="0">
                <a:solidFill>
                  <a:schemeClr val="bg1"/>
                </a:solidFill>
              </a:rPr>
              <a:t>Prompt del progetto</a:t>
            </a:r>
          </a:p>
        </p:txBody>
      </p:sp>
      <p:pic>
        <p:nvPicPr>
          <p:cNvPr id="11" name="Immagine 10" descr="Immagine che contiene testo, diagramma, linea, Piano&#10;&#10;Il contenuto generato dall'IA potrebbe non essere corretto.">
            <a:extLst>
              <a:ext uri="{FF2B5EF4-FFF2-40B4-BE49-F238E27FC236}">
                <a16:creationId xmlns:a16="http://schemas.microsoft.com/office/drawing/2014/main" id="{AA929E48-AE2B-C829-A765-440F8C3A6807}"/>
              </a:ext>
            </a:extLst>
          </p:cNvPr>
          <p:cNvPicPr>
            <a:picLocks noChangeAspect="1"/>
          </p:cNvPicPr>
          <p:nvPr/>
        </p:nvPicPr>
        <p:blipFill>
          <a:blip r:embed="rId3"/>
          <a:stretch>
            <a:fillRect/>
          </a:stretch>
        </p:blipFill>
        <p:spPr>
          <a:xfrm>
            <a:off x="456000" y="2341221"/>
            <a:ext cx="4694905" cy="3615723"/>
          </a:xfrm>
          <a:prstGeom prst="rect">
            <a:avLst/>
          </a:prstGeom>
        </p:spPr>
      </p:pic>
      <p:pic>
        <p:nvPicPr>
          <p:cNvPr id="3" name="Immagine 2">
            <a:extLst>
              <a:ext uri="{FF2B5EF4-FFF2-40B4-BE49-F238E27FC236}">
                <a16:creationId xmlns:a16="http://schemas.microsoft.com/office/drawing/2014/main" id="{90717AA1-1DD7-502F-9DAF-6008CFC10015}"/>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a14:imgEffect>
                  </a14:imgLayer>
                </a14:imgProps>
              </a:ext>
            </a:extLst>
          </a:blip>
          <a:stretch>
            <a:fillRect/>
          </a:stretch>
        </p:blipFill>
        <p:spPr>
          <a:xfrm>
            <a:off x="3487169" y="4935794"/>
            <a:ext cx="1801687" cy="150320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7C2C442-6472-A6FD-85C8-C7E6CB8E8699}"/>
            </a:ext>
          </a:extLst>
        </p:cNvPr>
        <p:cNvGrpSpPr/>
        <p:nvPr/>
      </p:nvGrpSpPr>
      <p:grpSpPr>
        <a:xfrm>
          <a:off x="0" y="0"/>
          <a:ext cx="0" cy="0"/>
          <a:chOff x="0" y="0"/>
          <a:chExt cx="0" cy="0"/>
        </a:xfrm>
      </p:grpSpPr>
      <p:pic>
        <p:nvPicPr>
          <p:cNvPr id="3" name="Immagine 2">
            <a:extLst>
              <a:ext uri="{FF2B5EF4-FFF2-40B4-BE49-F238E27FC236}">
                <a16:creationId xmlns:a16="http://schemas.microsoft.com/office/drawing/2014/main" id="{8D491521-98AF-BA9C-95E7-705AD13FE3A5}"/>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20000"/>
                    </a14:imgEffect>
                  </a14:imgLayer>
                </a14:imgProps>
              </a:ext>
            </a:extLst>
          </a:blip>
          <a:stretch>
            <a:fillRect/>
          </a:stretch>
        </p:blipFill>
        <p:spPr>
          <a:xfrm>
            <a:off x="4089415" y="5121938"/>
            <a:ext cx="1801687" cy="1503204"/>
          </a:xfrm>
          <a:prstGeom prst="rect">
            <a:avLst/>
          </a:prstGeom>
        </p:spPr>
      </p:pic>
      <p:pic>
        <p:nvPicPr>
          <p:cNvPr id="5" name="Immagine 4">
            <a:extLst>
              <a:ext uri="{FF2B5EF4-FFF2-40B4-BE49-F238E27FC236}">
                <a16:creationId xmlns:a16="http://schemas.microsoft.com/office/drawing/2014/main" id="{90A6F3B7-BFBD-1168-FD43-4149FF06E464}"/>
              </a:ext>
            </a:extLst>
          </p:cNvPr>
          <p:cNvPicPr>
            <a:picLocks noChangeAspect="1"/>
          </p:cNvPicPr>
          <p:nvPr/>
        </p:nvPicPr>
        <p:blipFill>
          <a:blip r:embed="rId5">
            <a:extLst>
              <a:ext uri="{BEBA8EAE-BF5A-486C-A8C5-ECC9F3942E4B}">
                <a14:imgProps xmlns:a14="http://schemas.microsoft.com/office/drawing/2010/main">
                  <a14:imgLayer r:embed="rId6">
                    <a14:imgEffect>
                      <a14:brightnessContrast bright="20000"/>
                    </a14:imgEffect>
                  </a14:imgLayer>
                </a14:imgProps>
              </a:ext>
            </a:extLst>
          </a:blip>
          <a:stretch>
            <a:fillRect/>
          </a:stretch>
        </p:blipFill>
        <p:spPr>
          <a:xfrm>
            <a:off x="456000" y="1838951"/>
            <a:ext cx="4395526" cy="4034589"/>
          </a:xfrm>
          <a:prstGeom prst="rect">
            <a:avLst/>
          </a:prstGeom>
        </p:spPr>
      </p:pic>
      <p:sp>
        <p:nvSpPr>
          <p:cNvPr id="6" name="Google Shape;105;p2">
            <a:extLst>
              <a:ext uri="{FF2B5EF4-FFF2-40B4-BE49-F238E27FC236}">
                <a16:creationId xmlns:a16="http://schemas.microsoft.com/office/drawing/2014/main" id="{2DAE01C3-F62F-E40C-40E6-12B803D62A61}"/>
              </a:ext>
            </a:extLst>
          </p:cNvPr>
          <p:cNvSpPr txBox="1">
            <a:spLocks/>
          </p:cNvSpPr>
          <p:nvPr/>
        </p:nvSpPr>
        <p:spPr>
          <a:xfrm>
            <a:off x="5612900" y="1838951"/>
            <a:ext cx="6123100" cy="418129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Sono indicate a fianco le maglie utilizzate per l’analisi cinematica.</a:t>
            </a:r>
          </a:p>
          <a:p>
            <a:pPr marL="0" indent="0">
              <a:spcBef>
                <a:spcPts val="0"/>
              </a:spcBef>
              <a:buSzPts val="3200"/>
              <a:buFont typeface="Arial"/>
              <a:buNone/>
            </a:pPr>
            <a:endParaRPr lang="it-IT" dirty="0"/>
          </a:p>
          <a:p>
            <a:pPr marL="0" indent="0">
              <a:spcBef>
                <a:spcPts val="0"/>
              </a:spcBef>
              <a:buSzPts val="3200"/>
              <a:buFont typeface="Arial"/>
              <a:buNone/>
            </a:pPr>
            <a:r>
              <a:rPr lang="it-IT" dirty="0"/>
              <a:t>Per praticità sono stati determinati i punti F e G.</a:t>
            </a:r>
          </a:p>
          <a:p>
            <a:pPr marL="0" indent="0">
              <a:spcBef>
                <a:spcPts val="0"/>
              </a:spcBef>
              <a:buSzPts val="3200"/>
              <a:buFont typeface="Arial"/>
              <a:buNone/>
            </a:pPr>
            <a:endParaRPr lang="it-IT" dirty="0"/>
          </a:p>
          <a:p>
            <a:pPr marL="0" indent="0">
              <a:spcBef>
                <a:spcPts val="0"/>
              </a:spcBef>
              <a:buSzPts val="3200"/>
              <a:buFont typeface="Arial"/>
              <a:buNone/>
            </a:pPr>
            <a:r>
              <a:rPr lang="it-IT" dirty="0"/>
              <a:t>Dato l’andamento della posizione angolare della manovella, si ricavano le posizioni degli altri membri.</a:t>
            </a:r>
          </a:p>
          <a:p>
            <a:pPr indent="-457200">
              <a:spcBef>
                <a:spcPts val="0"/>
              </a:spcBef>
              <a:buSzPts val="3200"/>
              <a:buFontTx/>
              <a:buChar char="-"/>
            </a:pPr>
            <a:endParaRPr lang="it-IT" dirty="0"/>
          </a:p>
        </p:txBody>
      </p:sp>
      <p:grpSp>
        <p:nvGrpSpPr>
          <p:cNvPr id="9" name="Gruppo 8">
            <a:extLst>
              <a:ext uri="{FF2B5EF4-FFF2-40B4-BE49-F238E27FC236}">
                <a16:creationId xmlns:a16="http://schemas.microsoft.com/office/drawing/2014/main" id="{2F56AC29-2936-8EB7-71E5-3FA117ED5A4A}"/>
              </a:ext>
            </a:extLst>
          </p:cNvPr>
          <p:cNvGrpSpPr/>
          <p:nvPr/>
        </p:nvGrpSpPr>
        <p:grpSpPr>
          <a:xfrm>
            <a:off x="0" y="6550222"/>
            <a:ext cx="12192000" cy="307778"/>
            <a:chOff x="0" y="6550222"/>
            <a:chExt cx="12192000" cy="307778"/>
          </a:xfrm>
        </p:grpSpPr>
        <p:sp>
          <p:nvSpPr>
            <p:cNvPr id="10" name="CasellaDiTesto 9">
              <a:extLst>
                <a:ext uri="{FF2B5EF4-FFF2-40B4-BE49-F238E27FC236}">
                  <a16:creationId xmlns:a16="http://schemas.microsoft.com/office/drawing/2014/main" id="{E96C3058-411F-209A-6AF8-6905B4FD5AA5}"/>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11" name="CasellaDiTesto 10">
              <a:extLst>
                <a:ext uri="{FF2B5EF4-FFF2-40B4-BE49-F238E27FC236}">
                  <a16:creationId xmlns:a16="http://schemas.microsoft.com/office/drawing/2014/main" id="{3997F4B9-C52D-BC07-52A8-162CCD6E3161}"/>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2" name="Titolo 8">
            <a:extLst>
              <a:ext uri="{FF2B5EF4-FFF2-40B4-BE49-F238E27FC236}">
                <a16:creationId xmlns:a16="http://schemas.microsoft.com/office/drawing/2014/main" id="{0A5AEED0-168B-889B-1FD2-3779AFD9F1EA}"/>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cinematica</a:t>
            </a:r>
          </a:p>
        </p:txBody>
      </p:sp>
    </p:spTree>
    <p:extLst>
      <p:ext uri="{BB962C8B-B14F-4D97-AF65-F5344CB8AC3E}">
        <p14:creationId xmlns:p14="http://schemas.microsoft.com/office/powerpoint/2010/main" val="18437809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D78FEEF-E3BF-D9A6-32E3-3A783D5483D2}"/>
            </a:ext>
          </a:extLst>
        </p:cNvPr>
        <p:cNvGrpSpPr/>
        <p:nvPr/>
      </p:nvGrpSpPr>
      <p:grpSpPr>
        <a:xfrm>
          <a:off x="0" y="0"/>
          <a:ext cx="0" cy="0"/>
          <a:chOff x="0" y="0"/>
          <a:chExt cx="0" cy="0"/>
        </a:xfrm>
      </p:grpSpPr>
      <p:pic>
        <p:nvPicPr>
          <p:cNvPr id="5" name="Immagine 4">
            <a:extLst>
              <a:ext uri="{FF2B5EF4-FFF2-40B4-BE49-F238E27FC236}">
                <a16:creationId xmlns:a16="http://schemas.microsoft.com/office/drawing/2014/main" id="{2C98EE48-E53C-EC29-23F8-F801B57620AB}"/>
              </a:ext>
            </a:extLst>
          </p:cNvPr>
          <p:cNvPicPr>
            <a:picLocks noChangeAspect="1"/>
          </p:cNvPicPr>
          <p:nvPr/>
        </p:nvPicPr>
        <p:blipFill>
          <a:blip r:embed="rId3"/>
          <a:srcRect/>
          <a:stretch/>
        </p:blipFill>
        <p:spPr>
          <a:xfrm>
            <a:off x="7010400" y="2438067"/>
            <a:ext cx="4817459" cy="3613094"/>
          </a:xfrm>
          <a:prstGeom prst="rect">
            <a:avLst/>
          </a:prstGeom>
        </p:spPr>
      </p:pic>
      <p:grpSp>
        <p:nvGrpSpPr>
          <p:cNvPr id="9" name="Gruppo 8">
            <a:extLst>
              <a:ext uri="{FF2B5EF4-FFF2-40B4-BE49-F238E27FC236}">
                <a16:creationId xmlns:a16="http://schemas.microsoft.com/office/drawing/2014/main" id="{71818537-0C07-929E-4E01-866AFAA0A4EB}"/>
              </a:ext>
            </a:extLst>
          </p:cNvPr>
          <p:cNvGrpSpPr/>
          <p:nvPr/>
        </p:nvGrpSpPr>
        <p:grpSpPr>
          <a:xfrm>
            <a:off x="0" y="6550222"/>
            <a:ext cx="12192000" cy="307778"/>
            <a:chOff x="0" y="6550222"/>
            <a:chExt cx="12192000" cy="307778"/>
          </a:xfrm>
        </p:grpSpPr>
        <p:sp>
          <p:nvSpPr>
            <p:cNvPr id="10" name="CasellaDiTesto 9">
              <a:extLst>
                <a:ext uri="{FF2B5EF4-FFF2-40B4-BE49-F238E27FC236}">
                  <a16:creationId xmlns:a16="http://schemas.microsoft.com/office/drawing/2014/main" id="{0F39ED56-107A-AA34-8BA2-40E6571EBE51}"/>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11" name="CasellaDiTesto 10">
              <a:extLst>
                <a:ext uri="{FF2B5EF4-FFF2-40B4-BE49-F238E27FC236}">
                  <a16:creationId xmlns:a16="http://schemas.microsoft.com/office/drawing/2014/main" id="{2482E11B-F99A-6BDD-2693-E79B14309604}"/>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15" name="Immagine 14">
            <a:extLst>
              <a:ext uri="{FF2B5EF4-FFF2-40B4-BE49-F238E27FC236}">
                <a16:creationId xmlns:a16="http://schemas.microsoft.com/office/drawing/2014/main" id="{487EC5F3-0F09-5C07-0429-35A9F3162068}"/>
              </a:ext>
            </a:extLst>
          </p:cNvPr>
          <p:cNvPicPr>
            <a:picLocks noChangeAspect="1"/>
          </p:cNvPicPr>
          <p:nvPr/>
        </p:nvPicPr>
        <p:blipFill>
          <a:blip r:embed="rId4"/>
          <a:stretch>
            <a:fillRect/>
          </a:stretch>
        </p:blipFill>
        <p:spPr>
          <a:xfrm>
            <a:off x="455999" y="2438067"/>
            <a:ext cx="6554401" cy="1513357"/>
          </a:xfrm>
          <a:prstGeom prst="rect">
            <a:avLst/>
          </a:prstGeom>
        </p:spPr>
      </p:pic>
      <p:sp>
        <p:nvSpPr>
          <p:cNvPr id="16" name="CasellaDiTesto 15">
            <a:extLst>
              <a:ext uri="{FF2B5EF4-FFF2-40B4-BE49-F238E27FC236}">
                <a16:creationId xmlns:a16="http://schemas.microsoft.com/office/drawing/2014/main" id="{A6857871-EAFD-FD3F-B276-01658518ED50}"/>
              </a:ext>
            </a:extLst>
          </p:cNvPr>
          <p:cNvSpPr txBox="1"/>
          <p:nvPr/>
        </p:nvSpPr>
        <p:spPr>
          <a:xfrm>
            <a:off x="455999" y="1323114"/>
            <a:ext cx="11280002" cy="954107"/>
          </a:xfrm>
          <a:prstGeom prst="rect">
            <a:avLst/>
          </a:prstGeom>
          <a:noFill/>
        </p:spPr>
        <p:txBody>
          <a:bodyPr wrap="square" rtlCol="0">
            <a:spAutoFit/>
          </a:bodyPr>
          <a:lstStyle/>
          <a:p>
            <a:r>
              <a:rPr lang="it-IT" sz="2800" dirty="0"/>
              <a:t>Si riporta il sistema di equazioni impostato in Matlab per la risoluzione della configurazione cinematica.</a:t>
            </a:r>
          </a:p>
        </p:txBody>
      </p:sp>
      <p:sp>
        <p:nvSpPr>
          <p:cNvPr id="2" name="Titolo 8">
            <a:extLst>
              <a:ext uri="{FF2B5EF4-FFF2-40B4-BE49-F238E27FC236}">
                <a16:creationId xmlns:a16="http://schemas.microsoft.com/office/drawing/2014/main" id="{11977534-8EF0-19C3-A5E7-E41EFF5100E2}"/>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cinematica</a:t>
            </a:r>
          </a:p>
        </p:txBody>
      </p:sp>
      <p:sp>
        <p:nvSpPr>
          <p:cNvPr id="6" name="CasellaDiTesto 5">
            <a:extLst>
              <a:ext uri="{FF2B5EF4-FFF2-40B4-BE49-F238E27FC236}">
                <a16:creationId xmlns:a16="http://schemas.microsoft.com/office/drawing/2014/main" id="{B0DBD739-7E5C-6EF7-CD31-9F62A99BD26D}"/>
              </a:ext>
            </a:extLst>
          </p:cNvPr>
          <p:cNvSpPr txBox="1"/>
          <p:nvPr/>
        </p:nvSpPr>
        <p:spPr>
          <a:xfrm>
            <a:off x="455999" y="4112270"/>
            <a:ext cx="5640001" cy="523220"/>
          </a:xfrm>
          <a:prstGeom prst="rect">
            <a:avLst/>
          </a:prstGeom>
          <a:noFill/>
        </p:spPr>
        <p:txBody>
          <a:bodyPr wrap="square" rtlCol="0">
            <a:spAutoFit/>
          </a:bodyPr>
          <a:lstStyle/>
          <a:p>
            <a:r>
              <a:rPr lang="it-IT" sz="2800" dirty="0"/>
              <a:t>L’errore introdotto è trascurabile</a:t>
            </a:r>
          </a:p>
        </p:txBody>
      </p:sp>
    </p:spTree>
    <p:extLst>
      <p:ext uri="{BB962C8B-B14F-4D97-AF65-F5344CB8AC3E}">
        <p14:creationId xmlns:p14="http://schemas.microsoft.com/office/powerpoint/2010/main" val="3047459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5E1C40E-D6CC-9AA0-2ECD-7EAE97BD7BD1}"/>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E13C6732-B422-BC86-23ED-D241918957C7}"/>
              </a:ext>
            </a:extLst>
          </p:cNvPr>
          <p:cNvSpPr txBox="1">
            <a:spLocks/>
          </p:cNvSpPr>
          <p:nvPr/>
        </p:nvSpPr>
        <p:spPr>
          <a:xfrm>
            <a:off x="5612900" y="2201761"/>
            <a:ext cx="6123100" cy="418129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ottengono così i parametri descrittivi della cinematica del pattino E.</a:t>
            </a:r>
          </a:p>
          <a:p>
            <a:pPr marL="0" indent="0">
              <a:spcBef>
                <a:spcPts val="0"/>
              </a:spcBef>
              <a:buSzPts val="3200"/>
              <a:buFont typeface="Arial"/>
              <a:buNone/>
            </a:pPr>
            <a:endParaRPr lang="it-IT" dirty="0"/>
          </a:p>
          <a:p>
            <a:pPr marL="0" indent="0">
              <a:spcBef>
                <a:spcPts val="0"/>
              </a:spcBef>
              <a:buSzPts val="3200"/>
              <a:buFont typeface="Arial"/>
              <a:buNone/>
            </a:pPr>
            <a:r>
              <a:rPr lang="it-IT" dirty="0"/>
              <a:t>La corsa non risulta sufficiente per i vincoli di progetto, si decide quindi di modificare la lunghezza della manovella CB affinché la corsa del pacco soddisfi i requisiti.</a:t>
            </a:r>
          </a:p>
          <a:p>
            <a:pPr indent="-457200">
              <a:spcBef>
                <a:spcPts val="0"/>
              </a:spcBef>
              <a:buSzPts val="3200"/>
              <a:buFontTx/>
              <a:buChar char="-"/>
            </a:pPr>
            <a:endParaRPr lang="it-IT" dirty="0"/>
          </a:p>
        </p:txBody>
      </p:sp>
      <p:grpSp>
        <p:nvGrpSpPr>
          <p:cNvPr id="2" name="Gruppo 1">
            <a:extLst>
              <a:ext uri="{FF2B5EF4-FFF2-40B4-BE49-F238E27FC236}">
                <a16:creationId xmlns:a16="http://schemas.microsoft.com/office/drawing/2014/main" id="{C54EB543-E437-0439-627F-4CD71C7DF67F}"/>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9BD181E7-DFC2-2B9C-04F9-0BE10808AA36}"/>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37FE8B4F-E82F-B967-C0F1-FA438A8C0590}"/>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5" name="Immagine 4">
            <a:extLst>
              <a:ext uri="{FF2B5EF4-FFF2-40B4-BE49-F238E27FC236}">
                <a16:creationId xmlns:a16="http://schemas.microsoft.com/office/drawing/2014/main" id="{4A0E7E72-9B75-AEBB-2FBB-2E92600F51E3}"/>
              </a:ext>
            </a:extLst>
          </p:cNvPr>
          <p:cNvPicPr>
            <a:picLocks noChangeAspect="1"/>
          </p:cNvPicPr>
          <p:nvPr/>
        </p:nvPicPr>
        <p:blipFill>
          <a:blip r:embed="rId3"/>
          <a:srcRect/>
          <a:stretch/>
        </p:blipFill>
        <p:spPr>
          <a:xfrm>
            <a:off x="0" y="2516619"/>
            <a:ext cx="4735432" cy="3551573"/>
          </a:xfrm>
          <a:prstGeom prst="rect">
            <a:avLst/>
          </a:prstGeom>
        </p:spPr>
      </p:pic>
      <p:sp>
        <p:nvSpPr>
          <p:cNvPr id="9" name="Titolo 8">
            <a:extLst>
              <a:ext uri="{FF2B5EF4-FFF2-40B4-BE49-F238E27FC236}">
                <a16:creationId xmlns:a16="http://schemas.microsoft.com/office/drawing/2014/main" id="{599F3505-C732-2E62-A470-7434901B3107}"/>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cinematica</a:t>
            </a:r>
          </a:p>
        </p:txBody>
      </p:sp>
    </p:spTree>
    <p:extLst>
      <p:ext uri="{BB962C8B-B14F-4D97-AF65-F5344CB8AC3E}">
        <p14:creationId xmlns:p14="http://schemas.microsoft.com/office/powerpoint/2010/main" val="4232850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C4FE89C-F939-3342-53ED-9826CC1B1511}"/>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C61DC5CC-5615-D83E-B077-62CDBB01266D}"/>
              </a:ext>
            </a:extLst>
          </p:cNvPr>
          <p:cNvSpPr txBox="1">
            <a:spLocks/>
          </p:cNvSpPr>
          <p:nvPr/>
        </p:nvSpPr>
        <p:spPr>
          <a:xfrm>
            <a:off x="5612901" y="2348463"/>
            <a:ext cx="6123100" cy="418129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Per ottenere il risultato desiderato, è stata modificata la lunghezza del membro CB, moltiplicandola per il rapporto tra la corsa desiderata e quella attuale iterativamente, fino ad un errore inferiore alla precisione di progetto.</a:t>
            </a:r>
          </a:p>
          <a:p>
            <a:pPr indent="-457200">
              <a:spcBef>
                <a:spcPts val="0"/>
              </a:spcBef>
              <a:buSzPts val="3200"/>
              <a:buFontTx/>
              <a:buChar char="-"/>
            </a:pPr>
            <a:endParaRPr lang="it-IT" dirty="0"/>
          </a:p>
        </p:txBody>
      </p:sp>
      <p:grpSp>
        <p:nvGrpSpPr>
          <p:cNvPr id="2" name="Gruppo 1">
            <a:extLst>
              <a:ext uri="{FF2B5EF4-FFF2-40B4-BE49-F238E27FC236}">
                <a16:creationId xmlns:a16="http://schemas.microsoft.com/office/drawing/2014/main" id="{FE33D50B-82BE-EA85-4998-533029453196}"/>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89C10EEF-E945-DF3D-1BCA-DA7DE2B0A4F2}"/>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A2E72DF8-CBCC-ECFC-2761-8DE209A775F5}"/>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7" name="Immagine 6">
            <a:extLst>
              <a:ext uri="{FF2B5EF4-FFF2-40B4-BE49-F238E27FC236}">
                <a16:creationId xmlns:a16="http://schemas.microsoft.com/office/drawing/2014/main" id="{9245F12A-00FC-771E-D9DE-AC9A84A34EAD}"/>
              </a:ext>
            </a:extLst>
          </p:cNvPr>
          <p:cNvPicPr>
            <a:picLocks noChangeAspect="1"/>
          </p:cNvPicPr>
          <p:nvPr/>
        </p:nvPicPr>
        <p:blipFill>
          <a:blip r:embed="rId3"/>
          <a:srcRect/>
          <a:stretch/>
        </p:blipFill>
        <p:spPr>
          <a:xfrm>
            <a:off x="0" y="2515117"/>
            <a:ext cx="4735432" cy="3551574"/>
          </a:xfrm>
          <a:prstGeom prst="rect">
            <a:avLst/>
          </a:prstGeom>
        </p:spPr>
      </p:pic>
      <p:sp>
        <p:nvSpPr>
          <p:cNvPr id="9" name="Titolo 8">
            <a:extLst>
              <a:ext uri="{FF2B5EF4-FFF2-40B4-BE49-F238E27FC236}">
                <a16:creationId xmlns:a16="http://schemas.microsoft.com/office/drawing/2014/main" id="{BB9A652D-478F-77DC-0E12-1C3436D45DA7}"/>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Ottimizzazione cinematismo</a:t>
            </a:r>
          </a:p>
        </p:txBody>
      </p:sp>
    </p:spTree>
    <p:extLst>
      <p:ext uri="{BB962C8B-B14F-4D97-AF65-F5344CB8AC3E}">
        <p14:creationId xmlns:p14="http://schemas.microsoft.com/office/powerpoint/2010/main" val="1102211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1068B02-6C4D-689A-F479-CFDAAF181FAA}"/>
            </a:ext>
          </a:extLst>
        </p:cNvPr>
        <p:cNvGrpSpPr/>
        <p:nvPr/>
      </p:nvGrpSpPr>
      <p:grpSpPr>
        <a:xfrm>
          <a:off x="0" y="0"/>
          <a:ext cx="0" cy="0"/>
          <a:chOff x="0" y="0"/>
          <a:chExt cx="0" cy="0"/>
        </a:xfrm>
      </p:grpSpPr>
      <p:pic>
        <p:nvPicPr>
          <p:cNvPr id="2" name="animazione">
            <a:hlinkClick r:id="" action="ppaction://media"/>
            <a:extLst>
              <a:ext uri="{FF2B5EF4-FFF2-40B4-BE49-F238E27FC236}">
                <a16:creationId xmlns:a16="http://schemas.microsoft.com/office/drawing/2014/main" id="{11ADB58A-4A12-5486-0C1A-7487699CC08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205127" y="1172100"/>
            <a:ext cx="7986874" cy="5695732"/>
          </a:xfrm>
          <a:prstGeom prst="rect">
            <a:avLst/>
          </a:prstGeom>
        </p:spPr>
      </p:pic>
      <p:sp>
        <p:nvSpPr>
          <p:cNvPr id="3" name="Titolo 8">
            <a:extLst>
              <a:ext uri="{FF2B5EF4-FFF2-40B4-BE49-F238E27FC236}">
                <a16:creationId xmlns:a16="http://schemas.microsoft.com/office/drawing/2014/main" id="{0E556A55-A4DD-E225-F664-E3D4BB695065}"/>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Animazione del cinematismo</a:t>
            </a:r>
          </a:p>
        </p:txBody>
      </p:sp>
      <p:sp>
        <p:nvSpPr>
          <p:cNvPr id="6" name="Google Shape;105;p2">
            <a:extLst>
              <a:ext uri="{FF2B5EF4-FFF2-40B4-BE49-F238E27FC236}">
                <a16:creationId xmlns:a16="http://schemas.microsoft.com/office/drawing/2014/main" id="{B9CA490B-4D07-58D0-E738-18DB18E21142}"/>
              </a:ext>
            </a:extLst>
          </p:cNvPr>
          <p:cNvSpPr txBox="1">
            <a:spLocks/>
          </p:cNvSpPr>
          <p:nvPr/>
        </p:nvSpPr>
        <p:spPr>
          <a:xfrm>
            <a:off x="421469" y="1919488"/>
            <a:ext cx="2911666" cy="418129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riporta l’animazione del cinematismo ottenuta, graficando quanto ottenuto dalla risoluzione delle equazioni di chiusura.</a:t>
            </a:r>
          </a:p>
          <a:p>
            <a:pPr indent="-457200">
              <a:spcBef>
                <a:spcPts val="0"/>
              </a:spcBef>
              <a:buSzPts val="3200"/>
              <a:buFontTx/>
              <a:buChar char="-"/>
            </a:pPr>
            <a:endParaRPr lang="it-IT" dirty="0"/>
          </a:p>
        </p:txBody>
      </p:sp>
    </p:spTree>
    <p:extLst>
      <p:ext uri="{BB962C8B-B14F-4D97-AF65-F5344CB8AC3E}">
        <p14:creationId xmlns:p14="http://schemas.microsoft.com/office/powerpoint/2010/main" val="3774721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666"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AB8503-B938-424F-846E-110D00F56447}"/>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0C457D8B-1A77-9D28-DB53-068D7CD4BF02}"/>
              </a:ext>
            </a:extLst>
          </p:cNvPr>
          <p:cNvSpPr txBox="1">
            <a:spLocks/>
          </p:cNvSpPr>
          <p:nvPr/>
        </p:nvSpPr>
        <p:spPr>
          <a:xfrm>
            <a:off x="522910" y="2010697"/>
            <a:ext cx="5317452" cy="4419599"/>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Applicando il principio dei lavori virtuali (PLV), si determina la coppia da applicare alla manovella CB per equilibrare la forza resistente applicata sul pattino E.</a:t>
            </a:r>
          </a:p>
          <a:p>
            <a:pPr marL="0" indent="0">
              <a:spcBef>
                <a:spcPts val="0"/>
              </a:spcBef>
              <a:buSzPts val="3200"/>
              <a:buFont typeface="Arial"/>
              <a:buNone/>
            </a:pPr>
            <a:r>
              <a:rPr lang="it-IT" dirty="0"/>
              <a:t>Tale forza applicata al pattino è la somma dell’inerzia del pattino, della forza di attrito dinamico e della forza scambiata durante l’urto.</a:t>
            </a:r>
          </a:p>
          <a:p>
            <a:pPr marL="0" indent="0">
              <a:spcBef>
                <a:spcPts val="0"/>
              </a:spcBef>
              <a:buSzPts val="3200"/>
              <a:buFont typeface="Arial"/>
              <a:buNone/>
            </a:pPr>
            <a:endParaRPr lang="it-IT" sz="1000" dirty="0"/>
          </a:p>
        </p:txBody>
      </p:sp>
      <p:grpSp>
        <p:nvGrpSpPr>
          <p:cNvPr id="2" name="Gruppo 1">
            <a:extLst>
              <a:ext uri="{FF2B5EF4-FFF2-40B4-BE49-F238E27FC236}">
                <a16:creationId xmlns:a16="http://schemas.microsoft.com/office/drawing/2014/main" id="{4E4AA5DE-BA44-9FCF-EEDE-756DE1E5B4E2}"/>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F7584653-4C41-F5E5-466F-AEC7E1D28FDC}"/>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C3AA6167-47BF-253C-5CD4-B3ACB08E0488}"/>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11" name="Immagine 10">
            <a:extLst>
              <a:ext uri="{FF2B5EF4-FFF2-40B4-BE49-F238E27FC236}">
                <a16:creationId xmlns:a16="http://schemas.microsoft.com/office/drawing/2014/main" id="{435F2321-B0A3-9B58-C5B9-BDAB7EB52BCA}"/>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20000"/>
                    </a14:imgEffect>
                  </a14:imgLayer>
                </a14:imgProps>
              </a:ext>
            </a:extLst>
          </a:blip>
          <a:stretch>
            <a:fillRect/>
          </a:stretch>
        </p:blipFill>
        <p:spPr>
          <a:xfrm>
            <a:off x="6821229" y="2010697"/>
            <a:ext cx="4694904" cy="4413531"/>
          </a:xfrm>
          <a:prstGeom prst="rect">
            <a:avLst/>
          </a:prstGeom>
        </p:spPr>
      </p:pic>
      <p:sp>
        <p:nvSpPr>
          <p:cNvPr id="5" name="Titolo 8">
            <a:extLst>
              <a:ext uri="{FF2B5EF4-FFF2-40B4-BE49-F238E27FC236}">
                <a16:creationId xmlns:a16="http://schemas.microsoft.com/office/drawing/2014/main" id="{DA587827-7CFE-2A67-D3D5-4CAB8321E8E5}"/>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dinamica</a:t>
            </a:r>
          </a:p>
        </p:txBody>
      </p:sp>
    </p:spTree>
    <p:extLst>
      <p:ext uri="{BB962C8B-B14F-4D97-AF65-F5344CB8AC3E}">
        <p14:creationId xmlns:p14="http://schemas.microsoft.com/office/powerpoint/2010/main" val="996728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468E6AE-40EC-6D3E-B8D7-B02ACDB0D253}"/>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5AA17E26-8B4B-D485-096D-EFEE1344EF70}"/>
              </a:ext>
            </a:extLst>
          </p:cNvPr>
          <p:cNvSpPr txBox="1">
            <a:spLocks/>
          </p:cNvSpPr>
          <p:nvPr/>
        </p:nvSpPr>
        <p:spPr>
          <a:xfrm>
            <a:off x="522908" y="2010698"/>
            <a:ext cx="5071645" cy="4085302"/>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Gran parte della coppia è dovuta all’urto con il pacco, modellato come una forza costante durante il contatto (dalla durata stimata di 0,1s),  pari alla quantità di moto del pacco alla fine dell’urto divisa per la sua durata.</a:t>
            </a:r>
          </a:p>
          <a:p>
            <a:pPr marL="0" indent="0">
              <a:spcBef>
                <a:spcPts val="0"/>
              </a:spcBef>
              <a:buSzPts val="3200"/>
              <a:buFont typeface="Arial"/>
              <a:buNone/>
            </a:pPr>
            <a:endParaRPr lang="it-IT" dirty="0"/>
          </a:p>
        </p:txBody>
      </p:sp>
      <p:grpSp>
        <p:nvGrpSpPr>
          <p:cNvPr id="2" name="Gruppo 1">
            <a:extLst>
              <a:ext uri="{FF2B5EF4-FFF2-40B4-BE49-F238E27FC236}">
                <a16:creationId xmlns:a16="http://schemas.microsoft.com/office/drawing/2014/main" id="{D1DAB2D2-8A82-3A78-65C4-703FA76EAF5A}"/>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6CFDE078-2CC8-45BE-2D84-1F6E18035F0E}"/>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B84AC743-6693-8C04-2170-3A09BC3524D0}"/>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7" name="Immagine 6">
            <a:extLst>
              <a:ext uri="{FF2B5EF4-FFF2-40B4-BE49-F238E27FC236}">
                <a16:creationId xmlns:a16="http://schemas.microsoft.com/office/drawing/2014/main" id="{63D39CB1-5F05-D392-1130-1140C73E6E89}"/>
              </a:ext>
            </a:extLst>
          </p:cNvPr>
          <p:cNvPicPr>
            <a:picLocks noChangeAspect="1"/>
          </p:cNvPicPr>
          <p:nvPr/>
        </p:nvPicPr>
        <p:blipFill>
          <a:blip r:embed="rId3"/>
          <a:srcRect/>
          <a:stretch/>
        </p:blipFill>
        <p:spPr>
          <a:xfrm>
            <a:off x="6243483" y="1877705"/>
            <a:ext cx="5093109" cy="3819832"/>
          </a:xfrm>
          <a:prstGeom prst="rect">
            <a:avLst/>
          </a:prstGeom>
        </p:spPr>
      </p:pic>
      <p:sp>
        <p:nvSpPr>
          <p:cNvPr id="5" name="Titolo 8">
            <a:extLst>
              <a:ext uri="{FF2B5EF4-FFF2-40B4-BE49-F238E27FC236}">
                <a16:creationId xmlns:a16="http://schemas.microsoft.com/office/drawing/2014/main" id="{ABA5D71D-EF13-C9F4-1A5D-85CE76E2487D}"/>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dinamica</a:t>
            </a:r>
          </a:p>
        </p:txBody>
      </p:sp>
    </p:spTree>
    <p:extLst>
      <p:ext uri="{BB962C8B-B14F-4D97-AF65-F5344CB8AC3E}">
        <p14:creationId xmlns:p14="http://schemas.microsoft.com/office/powerpoint/2010/main" val="1093735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CF2A3C1-3A47-E21F-F43F-BE085E7DFDDB}"/>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7F0CF3D5-BBA8-BF65-A2D2-F9C6B6C9DF0C}"/>
              </a:ext>
            </a:extLst>
          </p:cNvPr>
          <p:cNvSpPr txBox="1">
            <a:spLocks/>
          </p:cNvSpPr>
          <p:nvPr/>
        </p:nvSpPr>
        <p:spPr>
          <a:xfrm>
            <a:off x="5320608" y="3048161"/>
            <a:ext cx="5770179" cy="2932663"/>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Applicando le 3 equazioni di Newton per i moti piani, è possibile ricavare un sistema di equazioni lineari per la determinazione delle reazioni vincolari scambiate sulle coppie rotoidali.</a:t>
            </a:r>
          </a:p>
          <a:p>
            <a:pPr indent="-457200">
              <a:spcBef>
                <a:spcPts val="0"/>
              </a:spcBef>
              <a:buSzPts val="3200"/>
              <a:buFontTx/>
              <a:buChar char="-"/>
            </a:pPr>
            <a:endParaRPr lang="it-IT" dirty="0"/>
          </a:p>
        </p:txBody>
      </p:sp>
      <p:grpSp>
        <p:nvGrpSpPr>
          <p:cNvPr id="2" name="Gruppo 1">
            <a:extLst>
              <a:ext uri="{FF2B5EF4-FFF2-40B4-BE49-F238E27FC236}">
                <a16:creationId xmlns:a16="http://schemas.microsoft.com/office/drawing/2014/main" id="{77643055-ED8C-473F-54B9-0712BA0AE105}"/>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AB9E882A-03D4-97F8-2305-0F59FB528B1B}"/>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38358A44-B778-7354-156F-B03FA6404A0B}"/>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11" name="Immagine 10">
            <a:extLst>
              <a:ext uri="{FF2B5EF4-FFF2-40B4-BE49-F238E27FC236}">
                <a16:creationId xmlns:a16="http://schemas.microsoft.com/office/drawing/2014/main" id="{7AAD958D-36D1-A0C7-5392-8E928500C637}"/>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20000"/>
                    </a14:imgEffect>
                  </a14:imgLayer>
                </a14:imgProps>
              </a:ext>
            </a:extLst>
          </a:blip>
          <a:stretch>
            <a:fillRect/>
          </a:stretch>
        </p:blipFill>
        <p:spPr>
          <a:xfrm>
            <a:off x="1101213" y="2348463"/>
            <a:ext cx="3558548" cy="3803768"/>
          </a:xfrm>
          <a:prstGeom prst="rect">
            <a:avLst/>
          </a:prstGeom>
        </p:spPr>
      </p:pic>
      <p:sp>
        <p:nvSpPr>
          <p:cNvPr id="8" name="Titolo 8">
            <a:extLst>
              <a:ext uri="{FF2B5EF4-FFF2-40B4-BE49-F238E27FC236}">
                <a16:creationId xmlns:a16="http://schemas.microsoft.com/office/drawing/2014/main" id="{A4119B2C-4972-D56C-4B45-9A378C83E44A}"/>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con metodo di Newton</a:t>
            </a:r>
          </a:p>
        </p:txBody>
      </p:sp>
    </p:spTree>
    <p:extLst>
      <p:ext uri="{BB962C8B-B14F-4D97-AF65-F5344CB8AC3E}">
        <p14:creationId xmlns:p14="http://schemas.microsoft.com/office/powerpoint/2010/main" val="1243294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357FAC9-84E2-435C-45C2-C685ECE4E812}"/>
            </a:ext>
          </a:extLst>
        </p:cNvPr>
        <p:cNvGrpSpPr/>
        <p:nvPr/>
      </p:nvGrpSpPr>
      <p:grpSpPr>
        <a:xfrm>
          <a:off x="0" y="0"/>
          <a:ext cx="0" cy="0"/>
          <a:chOff x="0" y="0"/>
          <a:chExt cx="0" cy="0"/>
        </a:xfrm>
      </p:grpSpPr>
      <p:grpSp>
        <p:nvGrpSpPr>
          <p:cNvPr id="2" name="Gruppo 1">
            <a:extLst>
              <a:ext uri="{FF2B5EF4-FFF2-40B4-BE49-F238E27FC236}">
                <a16:creationId xmlns:a16="http://schemas.microsoft.com/office/drawing/2014/main" id="{33CE7695-A7C8-F76F-9CCE-4194FB5D9D67}"/>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82C25810-8CBE-3D8F-C48B-8C765BC7FC80}"/>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D6283720-5983-CA64-E071-91408094C0D1}"/>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8" name="Titolo 8">
            <a:extLst>
              <a:ext uri="{FF2B5EF4-FFF2-40B4-BE49-F238E27FC236}">
                <a16:creationId xmlns:a16="http://schemas.microsoft.com/office/drawing/2014/main" id="{4BD6252B-59B4-DDC6-251D-B32868783E98}"/>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con metodo di Newton</a:t>
            </a:r>
          </a:p>
        </p:txBody>
      </p:sp>
      <p:sp>
        <p:nvSpPr>
          <p:cNvPr id="9" name="Google Shape;105;p2">
            <a:extLst>
              <a:ext uri="{FF2B5EF4-FFF2-40B4-BE49-F238E27FC236}">
                <a16:creationId xmlns:a16="http://schemas.microsoft.com/office/drawing/2014/main" id="{13668C34-CBE7-87D5-A4F9-EDDA1EA03238}"/>
              </a:ext>
            </a:extLst>
          </p:cNvPr>
          <p:cNvSpPr txBox="1">
            <a:spLocks/>
          </p:cNvSpPr>
          <p:nvPr/>
        </p:nvSpPr>
        <p:spPr>
          <a:xfrm>
            <a:off x="138113" y="1451718"/>
            <a:ext cx="11915774" cy="835581"/>
          </a:xfrm>
          <a:prstGeom prst="rect">
            <a:avLst/>
          </a:prstGeom>
          <a:noFill/>
          <a:ln>
            <a:noFill/>
          </a:ln>
        </p:spPr>
        <p:txBody>
          <a:bodyPr spcFirstLastPara="1" wrap="square" lIns="91425" tIns="45700" rIns="91425" bIns="45700" anchor="t" anchorCtr="0">
            <a:normAutofit lnSpcReduction="10000"/>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riporta il sistema matriciale usato per determinare le componenti delle reazioni vincolari scambiate alle coppie rotoidali:</a:t>
            </a:r>
          </a:p>
          <a:p>
            <a:pPr indent="-457200">
              <a:spcBef>
                <a:spcPts val="0"/>
              </a:spcBef>
              <a:buSzPts val="3200"/>
              <a:buFontTx/>
              <a:buChar char="-"/>
            </a:pPr>
            <a:endParaRPr lang="it-IT" dirty="0"/>
          </a:p>
        </p:txBody>
      </p:sp>
      <p:grpSp>
        <p:nvGrpSpPr>
          <p:cNvPr id="6" name="Gruppo 5">
            <a:extLst>
              <a:ext uri="{FF2B5EF4-FFF2-40B4-BE49-F238E27FC236}">
                <a16:creationId xmlns:a16="http://schemas.microsoft.com/office/drawing/2014/main" id="{881DDBCD-A7A9-FAD1-A900-87FCA8A51FCB}"/>
              </a:ext>
            </a:extLst>
          </p:cNvPr>
          <p:cNvGrpSpPr/>
          <p:nvPr/>
        </p:nvGrpSpPr>
        <p:grpSpPr>
          <a:xfrm>
            <a:off x="314863" y="2456691"/>
            <a:ext cx="11562273" cy="2592781"/>
            <a:chOff x="138113" y="2917501"/>
            <a:chExt cx="11562273" cy="2592781"/>
          </a:xfrm>
        </p:grpSpPr>
        <p:pic>
          <p:nvPicPr>
            <p:cNvPr id="7" name="Immagine 6" descr="Immagine che contiene nero, oscurità&#10;&#10;Il contenuto generato dall'IA potrebbe non essere corretto.">
              <a:extLst>
                <a:ext uri="{FF2B5EF4-FFF2-40B4-BE49-F238E27FC236}">
                  <a16:creationId xmlns:a16="http://schemas.microsoft.com/office/drawing/2014/main" id="{CF159C76-A457-6C6F-3C01-6F61052A73FB}"/>
                </a:ext>
              </a:extLst>
            </p:cNvPr>
            <p:cNvPicPr>
              <a:picLocks noChangeAspect="1"/>
            </p:cNvPicPr>
            <p:nvPr/>
          </p:nvPicPr>
          <p:blipFill>
            <a:blip r:embed="rId3"/>
            <a:srcRect l="7718"/>
            <a:stretch>
              <a:fillRect/>
            </a:stretch>
          </p:blipFill>
          <p:spPr>
            <a:xfrm>
              <a:off x="2703871" y="2917501"/>
              <a:ext cx="8475406" cy="2488781"/>
            </a:xfrm>
            <a:prstGeom prst="rect">
              <a:avLst/>
            </a:prstGeom>
          </p:spPr>
        </p:pic>
        <p:pic>
          <p:nvPicPr>
            <p:cNvPr id="5" name="Immagine 4" descr="Immagine che contiene nero, oscurità&#10;&#10;Il contenuto generato dall'IA potrebbe non essere corretto.">
              <a:extLst>
                <a:ext uri="{FF2B5EF4-FFF2-40B4-BE49-F238E27FC236}">
                  <a16:creationId xmlns:a16="http://schemas.microsoft.com/office/drawing/2014/main" id="{4BEA2341-F486-C3AE-8223-7CB00559F674}"/>
                </a:ext>
              </a:extLst>
            </p:cNvPr>
            <p:cNvPicPr>
              <a:picLocks noChangeAspect="1"/>
            </p:cNvPicPr>
            <p:nvPr/>
          </p:nvPicPr>
          <p:blipFill>
            <a:blip r:embed="rId3"/>
            <a:srcRect l="391" t="1" r="94428" b="-3816"/>
            <a:stretch>
              <a:fillRect/>
            </a:stretch>
          </p:blipFill>
          <p:spPr>
            <a:xfrm>
              <a:off x="11222879" y="2917501"/>
              <a:ext cx="477507" cy="2592781"/>
            </a:xfrm>
            <a:prstGeom prst="rect">
              <a:avLst/>
            </a:prstGeom>
          </p:spPr>
        </p:pic>
        <p:pic>
          <p:nvPicPr>
            <p:cNvPr id="1026" name="Picture 2">
              <a:extLst>
                <a:ext uri="{FF2B5EF4-FFF2-40B4-BE49-F238E27FC236}">
                  <a16:creationId xmlns:a16="http://schemas.microsoft.com/office/drawing/2014/main" id="{CF7C9DED-4EAA-696E-42C7-F1440D503B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8113" y="2917501"/>
              <a:ext cx="2565758" cy="2436476"/>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720963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C4A5417-E409-6BFC-BBA5-2576289DB835}"/>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E2C7518A-844D-C6CB-E22A-06F578E0DBF8}"/>
              </a:ext>
            </a:extLst>
          </p:cNvPr>
          <p:cNvSpPr txBox="1">
            <a:spLocks/>
          </p:cNvSpPr>
          <p:nvPr/>
        </p:nvSpPr>
        <p:spPr>
          <a:xfrm>
            <a:off x="210193" y="1454069"/>
            <a:ext cx="6387251" cy="394986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Per il dimensionamento si è scelto un coefficiente di sicurezza di 1.2, per compensare eventuali difetti e ottenere masse ridotte.</a:t>
            </a:r>
          </a:p>
          <a:p>
            <a:pPr marL="0" indent="0">
              <a:spcBef>
                <a:spcPts val="0"/>
              </a:spcBef>
              <a:buSzPts val="3200"/>
              <a:buFont typeface="Arial"/>
              <a:buNone/>
            </a:pPr>
            <a:endParaRPr lang="it-IT" dirty="0"/>
          </a:p>
          <a:p>
            <a:pPr marL="0" indent="0">
              <a:spcBef>
                <a:spcPts val="0"/>
              </a:spcBef>
              <a:buSzPts val="3200"/>
              <a:buFont typeface="Arial"/>
              <a:buNone/>
            </a:pPr>
            <a:r>
              <a:rPr lang="it-IT" dirty="0"/>
              <a:t>Si assume che il dispositivo è sito in un contesto in cui eventuali rotture non possano arrecare danno a cose o persone nelle vicinanze.</a:t>
            </a:r>
          </a:p>
          <a:p>
            <a:pPr indent="-457200">
              <a:spcBef>
                <a:spcPts val="0"/>
              </a:spcBef>
              <a:buSzPts val="3200"/>
              <a:buFontTx/>
              <a:buChar char="-"/>
            </a:pPr>
            <a:endParaRPr lang="it-IT" dirty="0"/>
          </a:p>
        </p:txBody>
      </p:sp>
      <p:grpSp>
        <p:nvGrpSpPr>
          <p:cNvPr id="2" name="Gruppo 1">
            <a:extLst>
              <a:ext uri="{FF2B5EF4-FFF2-40B4-BE49-F238E27FC236}">
                <a16:creationId xmlns:a16="http://schemas.microsoft.com/office/drawing/2014/main" id="{DF49C94E-21D6-A814-6D13-716B0CDBED9A}"/>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68BA950E-3022-EFEA-0A08-591EE2190432}"/>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3801D1C1-27F0-4EAE-2098-630394A603A9}"/>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8" name="Immagine 7">
            <a:extLst>
              <a:ext uri="{FF2B5EF4-FFF2-40B4-BE49-F238E27FC236}">
                <a16:creationId xmlns:a16="http://schemas.microsoft.com/office/drawing/2014/main" id="{EE587A79-FB86-4C76-BA45-B716902EDDFA}"/>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20000"/>
                    </a14:imgEffect>
                  </a14:imgLayer>
                </a14:imgProps>
              </a:ext>
            </a:extLst>
          </a:blip>
          <a:stretch>
            <a:fillRect/>
          </a:stretch>
        </p:blipFill>
        <p:spPr>
          <a:xfrm>
            <a:off x="6803922" y="2348463"/>
            <a:ext cx="4060007" cy="3355720"/>
          </a:xfrm>
          <a:prstGeom prst="rect">
            <a:avLst/>
          </a:prstGeom>
        </p:spPr>
      </p:pic>
      <p:sp>
        <p:nvSpPr>
          <p:cNvPr id="5" name="Titolo 8">
            <a:extLst>
              <a:ext uri="{FF2B5EF4-FFF2-40B4-BE49-F238E27FC236}">
                <a16:creationId xmlns:a16="http://schemas.microsoft.com/office/drawing/2014/main" id="{3ABC95F9-ACA9-857D-D9DD-146FD933ADC5}"/>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dei membri</a:t>
            </a:r>
          </a:p>
        </p:txBody>
      </p:sp>
    </p:spTree>
    <p:extLst>
      <p:ext uri="{BB962C8B-B14F-4D97-AF65-F5344CB8AC3E}">
        <p14:creationId xmlns:p14="http://schemas.microsoft.com/office/powerpoint/2010/main" val="42937209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C4C2180-798B-395F-EFF1-5BE51AB5A220}"/>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A0E7B388-9609-621C-33BF-9D34A7D7A2CE}"/>
              </a:ext>
            </a:extLst>
          </p:cNvPr>
          <p:cNvSpPr txBox="1">
            <a:spLocks/>
          </p:cNvSpPr>
          <p:nvPr/>
        </p:nvSpPr>
        <p:spPr>
          <a:xfrm>
            <a:off x="455999" y="1264787"/>
            <a:ext cx="6033291" cy="1902460"/>
          </a:xfrm>
          <a:prstGeom prst="rect">
            <a:avLst/>
          </a:prstGeom>
          <a:noFill/>
          <a:ln>
            <a:noFill/>
          </a:ln>
        </p:spPr>
        <p:txBody>
          <a:bodyPr spcFirstLastPara="1" wrap="square" lIns="91425" tIns="45700" rIns="91425" bIns="45700" anchor="t" anchorCtr="0">
            <a:normAutofit lnSpcReduction="10000"/>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Per il materiale si è optato per un acciaio al carbonio C45 bonificato, comunemente impiegato in applicazioni in cui è richiesta tenacità e resistenza.</a:t>
            </a:r>
          </a:p>
          <a:p>
            <a:pPr marL="0" indent="0">
              <a:spcBef>
                <a:spcPts val="0"/>
              </a:spcBef>
              <a:buSzPts val="3200"/>
              <a:buFont typeface="Arial"/>
              <a:buNone/>
            </a:pPr>
            <a:endParaRPr lang="it-IT" dirty="0"/>
          </a:p>
        </p:txBody>
      </p:sp>
      <p:grpSp>
        <p:nvGrpSpPr>
          <p:cNvPr id="2" name="Gruppo 1">
            <a:extLst>
              <a:ext uri="{FF2B5EF4-FFF2-40B4-BE49-F238E27FC236}">
                <a16:creationId xmlns:a16="http://schemas.microsoft.com/office/drawing/2014/main" id="{04ECFA1B-44F6-0CDC-B489-B3A6C311E92A}"/>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9436D73A-C72A-8D12-8152-C8766FAA605E}"/>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1A6A0A5F-D1E6-447D-F058-69B1980CB1D6}"/>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2050" name="Picture 2" descr="barra tubolare quadra scatolato in ferro ZINCATO lunga 3 METRI lega S235JR  (50x50x1,5 mm) : Amazon.it: Commercio, Industria e Scienza">
            <a:extLst>
              <a:ext uri="{FF2B5EF4-FFF2-40B4-BE49-F238E27FC236}">
                <a16:creationId xmlns:a16="http://schemas.microsoft.com/office/drawing/2014/main" id="{94B6C9CA-B61A-0EE0-7725-4E36FE9D5A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51464" y="3429000"/>
            <a:ext cx="2353597" cy="158632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la 4">
            <a:extLst>
              <a:ext uri="{FF2B5EF4-FFF2-40B4-BE49-F238E27FC236}">
                <a16:creationId xmlns:a16="http://schemas.microsoft.com/office/drawing/2014/main" id="{AA010B43-08FF-18E8-69E9-A10B34128B20}"/>
              </a:ext>
            </a:extLst>
          </p:cNvPr>
          <p:cNvGraphicFramePr>
            <a:graphicFrameLocks noGrp="1"/>
          </p:cNvGraphicFramePr>
          <p:nvPr>
            <p:extLst>
              <p:ext uri="{D42A27DB-BD31-4B8C-83A1-F6EECF244321}">
                <p14:modId xmlns:p14="http://schemas.microsoft.com/office/powerpoint/2010/main" val="808538090"/>
              </p:ext>
            </p:extLst>
          </p:nvPr>
        </p:nvGraphicFramePr>
        <p:xfrm>
          <a:off x="6691155" y="1248690"/>
          <a:ext cx="4713906" cy="1832134"/>
        </p:xfrm>
        <a:graphic>
          <a:graphicData uri="http://schemas.openxmlformats.org/drawingml/2006/table">
            <a:tbl>
              <a:tblPr firstRow="1" bandRow="1">
                <a:tableStyleId>{B49EECCA-3B2E-439E-A9FE-AE0BB2C482AD}</a:tableStyleId>
              </a:tblPr>
              <a:tblGrid>
                <a:gridCol w="2325429">
                  <a:extLst>
                    <a:ext uri="{9D8B030D-6E8A-4147-A177-3AD203B41FA5}">
                      <a16:colId xmlns:a16="http://schemas.microsoft.com/office/drawing/2014/main" val="3505684004"/>
                    </a:ext>
                  </a:extLst>
                </a:gridCol>
                <a:gridCol w="2388477">
                  <a:extLst>
                    <a:ext uri="{9D8B030D-6E8A-4147-A177-3AD203B41FA5}">
                      <a16:colId xmlns:a16="http://schemas.microsoft.com/office/drawing/2014/main" val="2422322160"/>
                    </a:ext>
                  </a:extLst>
                </a:gridCol>
              </a:tblGrid>
              <a:tr h="348774">
                <a:tc>
                  <a:txBody>
                    <a:bodyPr/>
                    <a:lstStyle/>
                    <a:p>
                      <a:r>
                        <a:rPr lang="it-IT" dirty="0"/>
                        <a:t>Caratteristica</a:t>
                      </a:r>
                    </a:p>
                  </a:txBody>
                  <a:tcPr/>
                </a:tc>
                <a:tc>
                  <a:txBody>
                    <a:bodyPr/>
                    <a:lstStyle/>
                    <a:p>
                      <a:r>
                        <a:rPr lang="it-IT" dirty="0"/>
                        <a:t>Valore</a:t>
                      </a:r>
                    </a:p>
                  </a:txBody>
                  <a:tcPr/>
                </a:tc>
                <a:extLst>
                  <a:ext uri="{0D108BD9-81ED-4DB2-BD59-A6C34878D82A}">
                    <a16:rowId xmlns:a16="http://schemas.microsoft.com/office/drawing/2014/main" val="866119402"/>
                  </a:ext>
                </a:extLst>
              </a:tr>
              <a:tr h="370840">
                <a:tc>
                  <a:txBody>
                    <a:bodyPr/>
                    <a:lstStyle/>
                    <a:p>
                      <a:r>
                        <a:rPr lang="it-IT" dirty="0"/>
                        <a:t>Nome</a:t>
                      </a:r>
                    </a:p>
                  </a:txBody>
                  <a:tcPr/>
                </a:tc>
                <a:tc>
                  <a:txBody>
                    <a:bodyPr/>
                    <a:lstStyle/>
                    <a:p>
                      <a:r>
                        <a:rPr lang="it-IT" dirty="0"/>
                        <a:t>Acciaio al carbonio C45</a:t>
                      </a:r>
                    </a:p>
                  </a:txBody>
                  <a:tcPr/>
                </a:tc>
                <a:extLst>
                  <a:ext uri="{0D108BD9-81ED-4DB2-BD59-A6C34878D82A}">
                    <a16:rowId xmlns:a16="http://schemas.microsoft.com/office/drawing/2014/main" val="2543714435"/>
                  </a:ext>
                </a:extLst>
              </a:tr>
              <a:tr h="370840">
                <a:tc>
                  <a:txBody>
                    <a:bodyPr/>
                    <a:lstStyle/>
                    <a:p>
                      <a:r>
                        <a:rPr lang="it-IT" dirty="0"/>
                        <a:t>Densità</a:t>
                      </a:r>
                    </a:p>
                  </a:txBody>
                  <a:tcPr/>
                </a:tc>
                <a:tc>
                  <a:txBody>
                    <a:bodyPr/>
                    <a:lstStyle/>
                    <a:p>
                      <a:r>
                        <a:rPr lang="it-IT" dirty="0"/>
                        <a:t>7870 Kg/m^3</a:t>
                      </a:r>
                    </a:p>
                  </a:txBody>
                  <a:tcPr/>
                </a:tc>
                <a:extLst>
                  <a:ext uri="{0D108BD9-81ED-4DB2-BD59-A6C34878D82A}">
                    <a16:rowId xmlns:a16="http://schemas.microsoft.com/office/drawing/2014/main" val="1785713934"/>
                  </a:ext>
                </a:extLst>
              </a:tr>
              <a:tr h="370840">
                <a:tc>
                  <a:txBody>
                    <a:bodyPr/>
                    <a:lstStyle/>
                    <a:p>
                      <a:r>
                        <a:rPr lang="it-IT" dirty="0"/>
                        <a:t>Modulo elastico</a:t>
                      </a:r>
                    </a:p>
                  </a:txBody>
                  <a:tcPr/>
                </a:tc>
                <a:tc>
                  <a:txBody>
                    <a:bodyPr/>
                    <a:lstStyle/>
                    <a:p>
                      <a:r>
                        <a:rPr lang="it-IT" dirty="0"/>
                        <a:t>220 GPa</a:t>
                      </a:r>
                    </a:p>
                  </a:txBody>
                  <a:tcPr/>
                </a:tc>
                <a:extLst>
                  <a:ext uri="{0D108BD9-81ED-4DB2-BD59-A6C34878D82A}">
                    <a16:rowId xmlns:a16="http://schemas.microsoft.com/office/drawing/2014/main" val="2855032228"/>
                  </a:ext>
                </a:extLst>
              </a:tr>
              <a:tr h="370840">
                <a:tc>
                  <a:txBody>
                    <a:bodyPr/>
                    <a:lstStyle/>
                    <a:p>
                      <a:r>
                        <a:rPr lang="it-IT" dirty="0"/>
                        <a:t>Tensione di snervamento</a:t>
                      </a:r>
                    </a:p>
                  </a:txBody>
                  <a:tcPr/>
                </a:tc>
                <a:tc>
                  <a:txBody>
                    <a:bodyPr/>
                    <a:lstStyle/>
                    <a:p>
                      <a:r>
                        <a:rPr lang="it-IT" dirty="0"/>
                        <a:t>660 MPa</a:t>
                      </a:r>
                    </a:p>
                  </a:txBody>
                  <a:tcPr/>
                </a:tc>
                <a:extLst>
                  <a:ext uri="{0D108BD9-81ED-4DB2-BD59-A6C34878D82A}">
                    <a16:rowId xmlns:a16="http://schemas.microsoft.com/office/drawing/2014/main" val="1045266455"/>
                  </a:ext>
                </a:extLst>
              </a:tr>
            </a:tbl>
          </a:graphicData>
        </a:graphic>
      </p:graphicFrame>
      <p:sp>
        <p:nvSpPr>
          <p:cNvPr id="8" name="CasellaDiTesto 7">
            <a:extLst>
              <a:ext uri="{FF2B5EF4-FFF2-40B4-BE49-F238E27FC236}">
                <a16:creationId xmlns:a16="http://schemas.microsoft.com/office/drawing/2014/main" id="{83F6F140-7BC1-37A1-0963-6E70B2DD8FC3}"/>
              </a:ext>
            </a:extLst>
          </p:cNvPr>
          <p:cNvSpPr txBox="1"/>
          <p:nvPr/>
        </p:nvSpPr>
        <p:spPr>
          <a:xfrm>
            <a:off x="452643" y="3429000"/>
            <a:ext cx="6377420" cy="2246769"/>
          </a:xfrm>
          <a:prstGeom prst="rect">
            <a:avLst/>
          </a:prstGeom>
          <a:noFill/>
        </p:spPr>
        <p:txBody>
          <a:bodyPr wrap="square">
            <a:spAutoFit/>
          </a:bodyPr>
          <a:lstStyle/>
          <a:p>
            <a:pPr marL="0" indent="0">
              <a:spcBef>
                <a:spcPts val="0"/>
              </a:spcBef>
              <a:buSzPts val="3200"/>
              <a:buFont typeface="Arial"/>
              <a:buNone/>
            </a:pPr>
            <a:r>
              <a:rPr lang="it-IT" sz="2800" dirty="0"/>
              <a:t>Per la sezione, invece, si sono scelti gli scatolati rettangolari, dato che le sollecitazioni a cui sono sottoposti giacciono esclusivamente sul piano XY.</a:t>
            </a:r>
          </a:p>
        </p:txBody>
      </p:sp>
      <p:sp>
        <p:nvSpPr>
          <p:cNvPr id="9" name="Titolo 8">
            <a:extLst>
              <a:ext uri="{FF2B5EF4-FFF2-40B4-BE49-F238E27FC236}">
                <a16:creationId xmlns:a16="http://schemas.microsoft.com/office/drawing/2014/main" id="{F01C1017-2276-26D2-43AF-871262C19634}"/>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dei membri</a:t>
            </a:r>
          </a:p>
        </p:txBody>
      </p:sp>
    </p:spTree>
    <p:extLst>
      <p:ext uri="{BB962C8B-B14F-4D97-AF65-F5344CB8AC3E}">
        <p14:creationId xmlns:p14="http://schemas.microsoft.com/office/powerpoint/2010/main" val="2177889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EF83F5C-A40A-2A8A-1324-2C55A05A450E}"/>
            </a:ext>
          </a:extLst>
        </p:cNvPr>
        <p:cNvGrpSpPr/>
        <p:nvPr/>
      </p:nvGrpSpPr>
      <p:grpSpPr>
        <a:xfrm>
          <a:off x="0" y="0"/>
          <a:ext cx="0" cy="0"/>
          <a:chOff x="0" y="0"/>
          <a:chExt cx="0" cy="0"/>
        </a:xfrm>
      </p:grpSpPr>
      <p:grpSp>
        <p:nvGrpSpPr>
          <p:cNvPr id="2" name="Gruppo 1">
            <a:extLst>
              <a:ext uri="{FF2B5EF4-FFF2-40B4-BE49-F238E27FC236}">
                <a16:creationId xmlns:a16="http://schemas.microsoft.com/office/drawing/2014/main" id="{338D2F08-BB9B-AF27-1DE5-95C9836BA64D}"/>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AA723264-63B7-B1DC-2E34-2ADA57039A92}"/>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B929DB81-CED9-0E09-233B-3C7A7F334337}"/>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7" name="Immagine 6">
            <a:extLst>
              <a:ext uri="{FF2B5EF4-FFF2-40B4-BE49-F238E27FC236}">
                <a16:creationId xmlns:a16="http://schemas.microsoft.com/office/drawing/2014/main" id="{566767F3-A23F-3164-9628-E382D8BB52FD}"/>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20000"/>
                    </a14:imgEffect>
                  </a14:imgLayer>
                </a14:imgProps>
              </a:ext>
            </a:extLst>
          </a:blip>
          <a:stretch>
            <a:fillRect/>
          </a:stretch>
        </p:blipFill>
        <p:spPr>
          <a:xfrm>
            <a:off x="305050" y="2375502"/>
            <a:ext cx="5325118" cy="2190405"/>
          </a:xfrm>
          <a:prstGeom prst="rect">
            <a:avLst/>
          </a:prstGeom>
        </p:spPr>
      </p:pic>
      <p:sp>
        <p:nvSpPr>
          <p:cNvPr id="9" name="CasellaDiTesto 8">
            <a:extLst>
              <a:ext uri="{FF2B5EF4-FFF2-40B4-BE49-F238E27FC236}">
                <a16:creationId xmlns:a16="http://schemas.microsoft.com/office/drawing/2014/main" id="{987268C2-7170-0C03-75C3-5D000597810B}"/>
              </a:ext>
            </a:extLst>
          </p:cNvPr>
          <p:cNvSpPr txBox="1"/>
          <p:nvPr/>
        </p:nvSpPr>
        <p:spPr>
          <a:xfrm>
            <a:off x="5781118" y="1365129"/>
            <a:ext cx="6105832" cy="1569660"/>
          </a:xfrm>
          <a:prstGeom prst="rect">
            <a:avLst/>
          </a:prstGeom>
          <a:noFill/>
        </p:spPr>
        <p:txBody>
          <a:bodyPr wrap="square" rtlCol="0">
            <a:spAutoFit/>
          </a:bodyPr>
          <a:lstStyle/>
          <a:p>
            <a:r>
              <a:rPr lang="it-IT" sz="2400" dirty="0"/>
              <a:t>L’andamento del momento flettente lungo il membro CB permette di dimensionarlo, valutando esclusivamente la coppia massima esercita alla manovella.</a:t>
            </a:r>
          </a:p>
        </p:txBody>
      </p:sp>
      <p:sp>
        <p:nvSpPr>
          <p:cNvPr id="11" name="CasellaDiTesto 10">
            <a:extLst>
              <a:ext uri="{FF2B5EF4-FFF2-40B4-BE49-F238E27FC236}">
                <a16:creationId xmlns:a16="http://schemas.microsoft.com/office/drawing/2014/main" id="{454795CB-D89A-4D73-048B-D8C1DB41A2D2}"/>
              </a:ext>
            </a:extLst>
          </p:cNvPr>
          <p:cNvSpPr txBox="1"/>
          <p:nvPr/>
        </p:nvSpPr>
        <p:spPr>
          <a:xfrm>
            <a:off x="5781118" y="3137650"/>
            <a:ext cx="6105832" cy="1938992"/>
          </a:xfrm>
          <a:prstGeom prst="rect">
            <a:avLst/>
          </a:prstGeom>
          <a:noFill/>
        </p:spPr>
        <p:txBody>
          <a:bodyPr wrap="square">
            <a:spAutoFit/>
          </a:bodyPr>
          <a:lstStyle/>
          <a:p>
            <a:pPr marL="0" indent="0">
              <a:spcBef>
                <a:spcPts val="0"/>
              </a:spcBef>
              <a:buSzPts val="3200"/>
              <a:buFont typeface="Arial"/>
              <a:buNone/>
            </a:pPr>
            <a:r>
              <a:rPr lang="it-IT" sz="2400" dirty="0"/>
              <a:t>Quanto ai membri BA e DE, questi sono collegati a delle coppie rotoidali e supposti privi di massa. Per tale ragione, sono sollecitati esclusivamente a trazione e compressione.</a:t>
            </a:r>
          </a:p>
        </p:txBody>
      </p:sp>
      <p:sp>
        <p:nvSpPr>
          <p:cNvPr id="5" name="Titolo 8">
            <a:extLst>
              <a:ext uri="{FF2B5EF4-FFF2-40B4-BE49-F238E27FC236}">
                <a16:creationId xmlns:a16="http://schemas.microsoft.com/office/drawing/2014/main" id="{1091D575-76BA-5833-EE5D-9B503AC1E679}"/>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dei membri</a:t>
            </a:r>
          </a:p>
        </p:txBody>
      </p:sp>
    </p:spTree>
    <p:extLst>
      <p:ext uri="{BB962C8B-B14F-4D97-AF65-F5344CB8AC3E}">
        <p14:creationId xmlns:p14="http://schemas.microsoft.com/office/powerpoint/2010/main" val="7201271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6A0D109-8081-41A3-8FD2-3F1308E28304}"/>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8812A646-9C1F-8945-68C1-5CC471F97852}"/>
              </a:ext>
            </a:extLst>
          </p:cNvPr>
          <p:cNvSpPr txBox="1">
            <a:spLocks/>
          </p:cNvSpPr>
          <p:nvPr/>
        </p:nvSpPr>
        <p:spPr>
          <a:xfrm>
            <a:off x="335973" y="1404565"/>
            <a:ext cx="11520054" cy="3904853"/>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riportano i risultati del dimensionamento dei membri. Date le sezioni ottenute, si potrebbero reiterare i calcoli scegliendo un materiale meno pregiato, con conseguente aumento delle masse e riduzione del costo.</a:t>
            </a:r>
          </a:p>
          <a:p>
            <a:pPr marL="0" indent="0">
              <a:spcBef>
                <a:spcPts val="0"/>
              </a:spcBef>
              <a:buSzPts val="3200"/>
              <a:buFont typeface="Arial"/>
              <a:buNone/>
            </a:pPr>
            <a:r>
              <a:rPr lang="it-IT" dirty="0"/>
              <a:t>In alternativa, si potrebbero considerare sezioni maggiori, in virtù di un migliore coefficiente di sicurezza.</a:t>
            </a:r>
          </a:p>
        </p:txBody>
      </p:sp>
      <p:grpSp>
        <p:nvGrpSpPr>
          <p:cNvPr id="2" name="Gruppo 1">
            <a:extLst>
              <a:ext uri="{FF2B5EF4-FFF2-40B4-BE49-F238E27FC236}">
                <a16:creationId xmlns:a16="http://schemas.microsoft.com/office/drawing/2014/main" id="{FEA25F1D-0D75-EACA-B076-30556BC60DB5}"/>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A7DDAD60-9D99-B0C6-B759-6310EE1D7AD2}"/>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CDB1E225-5FD0-EE9E-9D66-8AE24689AC28}"/>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graphicFrame>
        <p:nvGraphicFramePr>
          <p:cNvPr id="5" name="Tabella 4">
            <a:extLst>
              <a:ext uri="{FF2B5EF4-FFF2-40B4-BE49-F238E27FC236}">
                <a16:creationId xmlns:a16="http://schemas.microsoft.com/office/drawing/2014/main" id="{866B753F-A3FE-7E3B-5302-CF5E1C5477E7}"/>
              </a:ext>
            </a:extLst>
          </p:cNvPr>
          <p:cNvGraphicFramePr>
            <a:graphicFrameLocks noGrp="1"/>
          </p:cNvGraphicFramePr>
          <p:nvPr>
            <p:extLst>
              <p:ext uri="{D42A27DB-BD31-4B8C-83A1-F6EECF244321}">
                <p14:modId xmlns:p14="http://schemas.microsoft.com/office/powerpoint/2010/main" val="628236731"/>
              </p:ext>
            </p:extLst>
          </p:nvPr>
        </p:nvGraphicFramePr>
        <p:xfrm>
          <a:off x="4231587" y="3635477"/>
          <a:ext cx="7354529" cy="2598172"/>
        </p:xfrm>
        <a:graphic>
          <a:graphicData uri="http://schemas.openxmlformats.org/drawingml/2006/table">
            <a:tbl>
              <a:tblPr firstRow="1" bandRow="1">
                <a:tableStyleId>{B49EECCA-3B2E-439E-A9FE-AE0BB2C482AD}</a:tableStyleId>
              </a:tblPr>
              <a:tblGrid>
                <a:gridCol w="1552592">
                  <a:extLst>
                    <a:ext uri="{9D8B030D-6E8A-4147-A177-3AD203B41FA5}">
                      <a16:colId xmlns:a16="http://schemas.microsoft.com/office/drawing/2014/main" val="3505684004"/>
                    </a:ext>
                  </a:extLst>
                </a:gridCol>
                <a:gridCol w="3173707">
                  <a:extLst>
                    <a:ext uri="{9D8B030D-6E8A-4147-A177-3AD203B41FA5}">
                      <a16:colId xmlns:a16="http://schemas.microsoft.com/office/drawing/2014/main" val="2422322160"/>
                    </a:ext>
                  </a:extLst>
                </a:gridCol>
                <a:gridCol w="2628230">
                  <a:extLst>
                    <a:ext uri="{9D8B030D-6E8A-4147-A177-3AD203B41FA5}">
                      <a16:colId xmlns:a16="http://schemas.microsoft.com/office/drawing/2014/main" val="178221926"/>
                    </a:ext>
                  </a:extLst>
                </a:gridCol>
              </a:tblGrid>
              <a:tr h="411342">
                <a:tc>
                  <a:txBody>
                    <a:bodyPr/>
                    <a:lstStyle/>
                    <a:p>
                      <a:r>
                        <a:rPr lang="it-IT" sz="2000" dirty="0"/>
                        <a:t>Membro</a:t>
                      </a:r>
                    </a:p>
                  </a:txBody>
                  <a:tcPr/>
                </a:tc>
                <a:tc>
                  <a:txBody>
                    <a:bodyPr/>
                    <a:lstStyle/>
                    <a:p>
                      <a:r>
                        <a:rPr lang="it-IT" sz="2000" dirty="0"/>
                        <a:t>Sezione [mm]</a:t>
                      </a:r>
                    </a:p>
                  </a:txBody>
                  <a:tcPr/>
                </a:tc>
                <a:tc>
                  <a:txBody>
                    <a:bodyPr/>
                    <a:lstStyle/>
                    <a:p>
                      <a:r>
                        <a:rPr lang="it-IT" sz="2000" dirty="0"/>
                        <a:t>Massa [Kg]</a:t>
                      </a:r>
                    </a:p>
                  </a:txBody>
                  <a:tcPr/>
                </a:tc>
                <a:extLst>
                  <a:ext uri="{0D108BD9-81ED-4DB2-BD59-A6C34878D82A}">
                    <a16:rowId xmlns:a16="http://schemas.microsoft.com/office/drawing/2014/main" val="866119402"/>
                  </a:ext>
                </a:extLst>
              </a:tr>
              <a:tr h="437366">
                <a:tc>
                  <a:txBody>
                    <a:bodyPr/>
                    <a:lstStyle/>
                    <a:p>
                      <a:r>
                        <a:rPr lang="it-IT" sz="2000" dirty="0"/>
                        <a:t>AO</a:t>
                      </a:r>
                    </a:p>
                  </a:txBody>
                  <a:tcPr/>
                </a:tc>
                <a:tc>
                  <a:txBody>
                    <a:bodyPr/>
                    <a:lstStyle/>
                    <a:p>
                      <a:r>
                        <a:rPr lang="it-IT" sz="2000" dirty="0"/>
                        <a:t>30x15 Spessore: 1,5</a:t>
                      </a:r>
                    </a:p>
                  </a:txBody>
                  <a:tcPr/>
                </a:tc>
                <a:tc>
                  <a:txBody>
                    <a:bodyPr/>
                    <a:lstStyle/>
                    <a:p>
                      <a:r>
                        <a:rPr lang="it-IT" sz="2000" dirty="0"/>
                        <a:t>0,222</a:t>
                      </a:r>
                    </a:p>
                  </a:txBody>
                  <a:tcPr/>
                </a:tc>
                <a:extLst>
                  <a:ext uri="{0D108BD9-81ED-4DB2-BD59-A6C34878D82A}">
                    <a16:rowId xmlns:a16="http://schemas.microsoft.com/office/drawing/2014/main" val="2543714435"/>
                  </a:ext>
                </a:extLst>
              </a:tr>
              <a:tr h="437366">
                <a:tc>
                  <a:txBody>
                    <a:bodyPr/>
                    <a:lstStyle/>
                    <a:p>
                      <a:r>
                        <a:rPr lang="it-IT" sz="2000" dirty="0"/>
                        <a:t>CB</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20x10 Spessore: 2</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0,061</a:t>
                      </a:r>
                    </a:p>
                  </a:txBody>
                  <a:tcPr/>
                </a:tc>
                <a:extLst>
                  <a:ext uri="{0D108BD9-81ED-4DB2-BD59-A6C34878D82A}">
                    <a16:rowId xmlns:a16="http://schemas.microsoft.com/office/drawing/2014/main" val="1785713934"/>
                  </a:ext>
                </a:extLst>
              </a:tr>
              <a:tr h="437366">
                <a:tc>
                  <a:txBody>
                    <a:bodyPr/>
                    <a:lstStyle/>
                    <a:p>
                      <a:r>
                        <a:rPr lang="it-IT" sz="2000" dirty="0"/>
                        <a:t>BA</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20x10 Spessore: 1,5</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0,194</a:t>
                      </a:r>
                    </a:p>
                  </a:txBody>
                  <a:tcPr/>
                </a:tc>
                <a:extLst>
                  <a:ext uri="{0D108BD9-81ED-4DB2-BD59-A6C34878D82A}">
                    <a16:rowId xmlns:a16="http://schemas.microsoft.com/office/drawing/2014/main" val="2855032228"/>
                  </a:ext>
                </a:extLst>
              </a:tr>
              <a:tr h="437366">
                <a:tc>
                  <a:txBody>
                    <a:bodyPr/>
                    <a:lstStyle/>
                    <a:p>
                      <a:r>
                        <a:rPr lang="it-IT" sz="2000" dirty="0"/>
                        <a:t>AD</a:t>
                      </a:r>
                    </a:p>
                  </a:txBody>
                  <a:tcPr/>
                </a:tc>
                <a:tc>
                  <a:txBody>
                    <a:bodyPr/>
                    <a:lstStyle/>
                    <a:p>
                      <a:r>
                        <a:rPr lang="it-IT" sz="2000" dirty="0"/>
                        <a:t>30x15 Spessore: 1,5</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0,409</a:t>
                      </a:r>
                    </a:p>
                  </a:txBody>
                  <a:tcPr/>
                </a:tc>
                <a:extLst>
                  <a:ext uri="{0D108BD9-81ED-4DB2-BD59-A6C34878D82A}">
                    <a16:rowId xmlns:a16="http://schemas.microsoft.com/office/drawing/2014/main" val="1045266455"/>
                  </a:ext>
                </a:extLst>
              </a:tr>
              <a:tr h="437366">
                <a:tc>
                  <a:txBody>
                    <a:bodyPr/>
                    <a:lstStyle/>
                    <a:p>
                      <a:r>
                        <a:rPr lang="it-IT" sz="2000" dirty="0"/>
                        <a:t>DE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20x10 Spessore: 1,5</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0,255</a:t>
                      </a:r>
                    </a:p>
                  </a:txBody>
                  <a:tcPr/>
                </a:tc>
                <a:extLst>
                  <a:ext uri="{0D108BD9-81ED-4DB2-BD59-A6C34878D82A}">
                    <a16:rowId xmlns:a16="http://schemas.microsoft.com/office/drawing/2014/main" val="2477938325"/>
                  </a:ext>
                </a:extLst>
              </a:tr>
            </a:tbl>
          </a:graphicData>
        </a:graphic>
      </p:graphicFrame>
      <p:sp>
        <p:nvSpPr>
          <p:cNvPr id="8" name="Titolo 8">
            <a:extLst>
              <a:ext uri="{FF2B5EF4-FFF2-40B4-BE49-F238E27FC236}">
                <a16:creationId xmlns:a16="http://schemas.microsoft.com/office/drawing/2014/main" id="{78122361-A7DC-C91A-444C-18DA0EADF1EF}"/>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dei membri</a:t>
            </a:r>
          </a:p>
        </p:txBody>
      </p:sp>
    </p:spTree>
    <p:extLst>
      <p:ext uri="{BB962C8B-B14F-4D97-AF65-F5344CB8AC3E}">
        <p14:creationId xmlns:p14="http://schemas.microsoft.com/office/powerpoint/2010/main" val="1436523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Google Shape;105;p2">
            <a:extLst>
              <a:ext uri="{FF2B5EF4-FFF2-40B4-BE49-F238E27FC236}">
                <a16:creationId xmlns:a16="http://schemas.microsoft.com/office/drawing/2014/main" id="{962FCCCF-CF5A-BE63-67B0-5463C0E41D18}"/>
              </a:ext>
            </a:extLst>
          </p:cNvPr>
          <p:cNvSpPr txBox="1">
            <a:spLocks/>
          </p:cNvSpPr>
          <p:nvPr/>
        </p:nvSpPr>
        <p:spPr>
          <a:xfrm>
            <a:off x="515759" y="2697548"/>
            <a:ext cx="5816982" cy="2533429"/>
          </a:xfrm>
          <a:prstGeom prst="rect">
            <a:avLst/>
          </a:prstGeom>
          <a:noFill/>
          <a:ln>
            <a:noFill/>
          </a:ln>
        </p:spPr>
        <p:txBody>
          <a:bodyPr spcFirstLastPara="1" wrap="square" lIns="91425" tIns="45700" rIns="91425" bIns="45700" anchor="t" anchorCtr="0">
            <a:normAutofit lnSpcReduction="10000"/>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Avendo considerato finora i membri privi di massa, si riesegue la valutazione della coppia necessaria, considerando le nuove forze in gioco legate a massa e inerzia dei membri del cinematismo. </a:t>
            </a:r>
          </a:p>
        </p:txBody>
      </p:sp>
      <p:grpSp>
        <p:nvGrpSpPr>
          <p:cNvPr id="50" name="Gruppo 49">
            <a:extLst>
              <a:ext uri="{FF2B5EF4-FFF2-40B4-BE49-F238E27FC236}">
                <a16:creationId xmlns:a16="http://schemas.microsoft.com/office/drawing/2014/main" id="{87FA3DB1-D3EB-FD85-F5CE-098E422A6E25}"/>
              </a:ext>
            </a:extLst>
          </p:cNvPr>
          <p:cNvGrpSpPr/>
          <p:nvPr/>
        </p:nvGrpSpPr>
        <p:grpSpPr>
          <a:xfrm>
            <a:off x="0" y="6550222"/>
            <a:ext cx="12192000" cy="307778"/>
            <a:chOff x="0" y="6550222"/>
            <a:chExt cx="12192000" cy="307778"/>
          </a:xfrm>
        </p:grpSpPr>
        <p:sp>
          <p:nvSpPr>
            <p:cNvPr id="51" name="CasellaDiTesto 50">
              <a:extLst>
                <a:ext uri="{FF2B5EF4-FFF2-40B4-BE49-F238E27FC236}">
                  <a16:creationId xmlns:a16="http://schemas.microsoft.com/office/drawing/2014/main" id="{C6534FF7-A3E8-1309-6513-61969A266D9C}"/>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52" name="CasellaDiTesto 51">
              <a:extLst>
                <a:ext uri="{FF2B5EF4-FFF2-40B4-BE49-F238E27FC236}">
                  <a16:creationId xmlns:a16="http://schemas.microsoft.com/office/drawing/2014/main" id="{74835F73-04C5-0AB6-F5A0-A65148D0156F}"/>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59" name="Immagine 58">
            <a:extLst>
              <a:ext uri="{FF2B5EF4-FFF2-40B4-BE49-F238E27FC236}">
                <a16:creationId xmlns:a16="http://schemas.microsoft.com/office/drawing/2014/main" id="{C04539FE-2AE1-0DD5-A199-6B1048B82975}"/>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20000"/>
                    </a14:imgEffect>
                  </a14:imgLayer>
                </a14:imgProps>
              </a:ext>
            </a:extLst>
          </a:blip>
          <a:stretch>
            <a:fillRect/>
          </a:stretch>
        </p:blipFill>
        <p:spPr>
          <a:xfrm>
            <a:off x="7354528" y="1754463"/>
            <a:ext cx="4321713" cy="4419600"/>
          </a:xfrm>
          <a:prstGeom prst="rect">
            <a:avLst/>
          </a:prstGeom>
        </p:spPr>
      </p:pic>
      <p:sp>
        <p:nvSpPr>
          <p:cNvPr id="2" name="Titolo 8">
            <a:extLst>
              <a:ext uri="{FF2B5EF4-FFF2-40B4-BE49-F238E27FC236}">
                <a16:creationId xmlns:a16="http://schemas.microsoft.com/office/drawing/2014/main" id="{338079BF-1E5F-5C28-665A-3B5D8821C2A8}"/>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dinamica 2</a:t>
            </a:r>
          </a:p>
        </p:txBody>
      </p:sp>
    </p:spTree>
    <p:extLst>
      <p:ext uri="{BB962C8B-B14F-4D97-AF65-F5344CB8AC3E}">
        <p14:creationId xmlns:p14="http://schemas.microsoft.com/office/powerpoint/2010/main" val="28979868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50CC8-02CB-D8A3-8AD5-06F48CEE66E5}"/>
            </a:ext>
          </a:extLst>
        </p:cNvPr>
        <p:cNvGrpSpPr/>
        <p:nvPr/>
      </p:nvGrpSpPr>
      <p:grpSpPr>
        <a:xfrm>
          <a:off x="0" y="0"/>
          <a:ext cx="0" cy="0"/>
          <a:chOff x="0" y="0"/>
          <a:chExt cx="0" cy="0"/>
        </a:xfrm>
      </p:grpSpPr>
      <p:sp>
        <p:nvSpPr>
          <p:cNvPr id="49" name="Google Shape;105;p2">
            <a:extLst>
              <a:ext uri="{FF2B5EF4-FFF2-40B4-BE49-F238E27FC236}">
                <a16:creationId xmlns:a16="http://schemas.microsoft.com/office/drawing/2014/main" id="{CA183C45-99BB-0B67-9C35-68FB4EB87017}"/>
              </a:ext>
            </a:extLst>
          </p:cNvPr>
          <p:cNvSpPr txBox="1">
            <a:spLocks/>
          </p:cNvSpPr>
          <p:nvPr/>
        </p:nvSpPr>
        <p:spPr>
          <a:xfrm>
            <a:off x="486503" y="2302688"/>
            <a:ext cx="4208402" cy="3499239"/>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Grazie alla ridotta massa dei membri e alla ridotta traslazione verticale delle bielle, la variazione della coppia richiesta è trascurabile nell’intorno dell’urto.</a:t>
            </a:r>
          </a:p>
          <a:p>
            <a:pPr marL="0" indent="0">
              <a:spcBef>
                <a:spcPts val="0"/>
              </a:spcBef>
              <a:buSzPts val="3200"/>
              <a:buFont typeface="Arial"/>
              <a:buNone/>
            </a:pPr>
            <a:endParaRPr lang="it-IT" dirty="0"/>
          </a:p>
          <a:p>
            <a:pPr marL="0" indent="0">
              <a:spcBef>
                <a:spcPts val="0"/>
              </a:spcBef>
              <a:buSzPts val="3200"/>
              <a:buFont typeface="Arial"/>
              <a:buNone/>
            </a:pPr>
            <a:endParaRPr lang="it-IT" dirty="0"/>
          </a:p>
          <a:p>
            <a:pPr marL="0" indent="0">
              <a:spcBef>
                <a:spcPts val="0"/>
              </a:spcBef>
              <a:buSzPts val="3200"/>
              <a:buFont typeface="Arial"/>
              <a:buNone/>
            </a:pPr>
            <a:endParaRPr lang="it-IT" dirty="0"/>
          </a:p>
        </p:txBody>
      </p:sp>
      <p:grpSp>
        <p:nvGrpSpPr>
          <p:cNvPr id="50" name="Gruppo 49">
            <a:extLst>
              <a:ext uri="{FF2B5EF4-FFF2-40B4-BE49-F238E27FC236}">
                <a16:creationId xmlns:a16="http://schemas.microsoft.com/office/drawing/2014/main" id="{59A03749-1419-2F1B-176C-915A91B270DB}"/>
              </a:ext>
            </a:extLst>
          </p:cNvPr>
          <p:cNvGrpSpPr/>
          <p:nvPr/>
        </p:nvGrpSpPr>
        <p:grpSpPr>
          <a:xfrm>
            <a:off x="0" y="6550222"/>
            <a:ext cx="12192000" cy="307778"/>
            <a:chOff x="0" y="6550222"/>
            <a:chExt cx="12192000" cy="307778"/>
          </a:xfrm>
        </p:grpSpPr>
        <p:sp>
          <p:nvSpPr>
            <p:cNvPr id="51" name="CasellaDiTesto 50">
              <a:extLst>
                <a:ext uri="{FF2B5EF4-FFF2-40B4-BE49-F238E27FC236}">
                  <a16:creationId xmlns:a16="http://schemas.microsoft.com/office/drawing/2014/main" id="{A9B76485-7402-70EC-0EBB-15587F36F132}"/>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52" name="CasellaDiTesto 51">
              <a:extLst>
                <a:ext uri="{FF2B5EF4-FFF2-40B4-BE49-F238E27FC236}">
                  <a16:creationId xmlns:a16="http://schemas.microsoft.com/office/drawing/2014/main" id="{E517994C-EC24-63D8-D650-8A6F0F7076B1}"/>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57" name="Immagine 56">
            <a:extLst>
              <a:ext uri="{FF2B5EF4-FFF2-40B4-BE49-F238E27FC236}">
                <a16:creationId xmlns:a16="http://schemas.microsoft.com/office/drawing/2014/main" id="{4AB14389-ADF7-254E-2F66-9A07EE4DE9C3}"/>
              </a:ext>
            </a:extLst>
          </p:cNvPr>
          <p:cNvPicPr>
            <a:picLocks noChangeAspect="1"/>
          </p:cNvPicPr>
          <p:nvPr/>
        </p:nvPicPr>
        <p:blipFill>
          <a:blip r:embed="rId2"/>
          <a:srcRect/>
          <a:stretch/>
        </p:blipFill>
        <p:spPr>
          <a:xfrm>
            <a:off x="5877833" y="1431178"/>
            <a:ext cx="5827664" cy="4370749"/>
          </a:xfrm>
          <a:prstGeom prst="rect">
            <a:avLst/>
          </a:prstGeom>
        </p:spPr>
      </p:pic>
      <p:sp>
        <p:nvSpPr>
          <p:cNvPr id="2" name="Titolo 8">
            <a:extLst>
              <a:ext uri="{FF2B5EF4-FFF2-40B4-BE49-F238E27FC236}">
                <a16:creationId xmlns:a16="http://schemas.microsoft.com/office/drawing/2014/main" id="{2B1B6C3A-2ACF-D7AE-B778-6C39851B1829}"/>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Analisi dinamica 2</a:t>
            </a:r>
          </a:p>
        </p:txBody>
      </p:sp>
    </p:spTree>
    <p:extLst>
      <p:ext uri="{BB962C8B-B14F-4D97-AF65-F5344CB8AC3E}">
        <p14:creationId xmlns:p14="http://schemas.microsoft.com/office/powerpoint/2010/main" val="2929595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538CF4A-C0BD-62E2-BBE9-EA799A425476}"/>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F829BBDF-C115-8B6D-15DF-E414355FF287}"/>
              </a:ext>
            </a:extLst>
          </p:cNvPr>
          <p:cNvSpPr txBox="1">
            <a:spLocks/>
          </p:cNvSpPr>
          <p:nvPr/>
        </p:nvSpPr>
        <p:spPr>
          <a:xfrm>
            <a:off x="119845" y="1162268"/>
            <a:ext cx="11952310" cy="327208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Nota la coppia da applicare alla manovella, è possibile entrare nel catalogo dei riduttori con i dati relativi all’albero di uscita ed eseguire una prima analisi per il rapporto di trasmissione ideale.</a:t>
            </a:r>
          </a:p>
          <a:p>
            <a:pPr marL="0" indent="0">
              <a:spcBef>
                <a:spcPts val="0"/>
              </a:spcBef>
              <a:buSzPts val="3200"/>
              <a:buFont typeface="Arial"/>
              <a:buNone/>
            </a:pPr>
            <a:endParaRPr lang="it-IT" dirty="0"/>
          </a:p>
          <a:p>
            <a:pPr marL="0" indent="0">
              <a:spcBef>
                <a:spcPts val="0"/>
              </a:spcBef>
              <a:buSzPts val="3200"/>
              <a:buFont typeface="Arial"/>
              <a:buNone/>
            </a:pPr>
            <a:r>
              <a:rPr lang="it-IT" dirty="0"/>
              <a:t>Dato che la velocità dell’albero lento è pari a 70 rpm e le velocità nominali dei motori del catalogo considerato si attestano tra i 1500 e gli 8000 rpm, si effettua una scelta tra i riduttori con rapporti di riduzione nel range compreso tra 20 e 100, quindi i riduttori a doppio stadio (serie HPD). </a:t>
            </a:r>
          </a:p>
        </p:txBody>
      </p:sp>
      <p:grpSp>
        <p:nvGrpSpPr>
          <p:cNvPr id="2" name="Gruppo 1">
            <a:extLst>
              <a:ext uri="{FF2B5EF4-FFF2-40B4-BE49-F238E27FC236}">
                <a16:creationId xmlns:a16="http://schemas.microsoft.com/office/drawing/2014/main" id="{145943EA-8964-430E-683D-088792559B75}"/>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317FD612-5221-480E-D42A-5156A4770A51}"/>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22A85420-DF90-FDE9-5056-FB1E37DF1D85}"/>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5" name="Titolo 8">
            <a:extLst>
              <a:ext uri="{FF2B5EF4-FFF2-40B4-BE49-F238E27FC236}">
                <a16:creationId xmlns:a16="http://schemas.microsoft.com/office/drawing/2014/main" id="{4C6107E7-9DF3-4249-4900-682723659367}"/>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del riduttore</a:t>
            </a:r>
          </a:p>
        </p:txBody>
      </p:sp>
    </p:spTree>
    <p:extLst>
      <p:ext uri="{BB962C8B-B14F-4D97-AF65-F5344CB8AC3E}">
        <p14:creationId xmlns:p14="http://schemas.microsoft.com/office/powerpoint/2010/main" val="6236182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147B0D2-193F-DF98-4A73-5A52DB6019C8}"/>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CDD5D51B-DC9F-E41E-808B-AD8DF44DFD60}"/>
              </a:ext>
            </a:extLst>
          </p:cNvPr>
          <p:cNvSpPr txBox="1">
            <a:spLocks/>
          </p:cNvSpPr>
          <p:nvPr/>
        </p:nvSpPr>
        <p:spPr>
          <a:xfrm>
            <a:off x="455999" y="1290577"/>
            <a:ext cx="11280002" cy="1465001"/>
          </a:xfrm>
          <a:prstGeom prst="rect">
            <a:avLst/>
          </a:prstGeom>
          <a:noFill/>
          <a:ln>
            <a:noFill/>
          </a:ln>
        </p:spPr>
        <p:txBody>
          <a:bodyPr spcFirstLastPara="1" wrap="square" lIns="91425" tIns="45700" rIns="91425" bIns="45700" anchor="t" anchorCtr="0">
            <a:normAutofit lnSpcReduction="10000"/>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prendono in considerazione i riduttori proposti durante il corso.</a:t>
            </a:r>
          </a:p>
          <a:p>
            <a:pPr marL="0" indent="0">
              <a:spcBef>
                <a:spcPts val="0"/>
              </a:spcBef>
              <a:buSzPts val="3200"/>
              <a:buFont typeface="Arial"/>
              <a:buNone/>
            </a:pPr>
            <a:r>
              <a:rPr lang="it-IT" dirty="0"/>
              <a:t>Eliminati i riduttori che non soddisfano i requisiti minimi di coppia e velocità, sia massimi che nominali, la scelta ricade sul riduttore che richiede una coppia minore al motore in ingresso:</a:t>
            </a:r>
          </a:p>
          <a:p>
            <a:pPr marL="0" indent="0">
              <a:spcBef>
                <a:spcPts val="0"/>
              </a:spcBef>
              <a:buSzPts val="3200"/>
              <a:buFont typeface="Arial"/>
              <a:buNone/>
            </a:pPr>
            <a:endParaRPr lang="it-IT" dirty="0"/>
          </a:p>
        </p:txBody>
      </p:sp>
      <p:grpSp>
        <p:nvGrpSpPr>
          <p:cNvPr id="2" name="Gruppo 1">
            <a:extLst>
              <a:ext uri="{FF2B5EF4-FFF2-40B4-BE49-F238E27FC236}">
                <a16:creationId xmlns:a16="http://schemas.microsoft.com/office/drawing/2014/main" id="{7FEED05A-CAB5-13B1-D3B8-80F598F4FF76}"/>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9C1D7572-F24A-3E98-85EE-5C60DA4F2FC5}"/>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FCCFA917-C567-BEB8-13FD-B273745EC3A0}"/>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graphicFrame>
        <p:nvGraphicFramePr>
          <p:cNvPr id="5" name="Tabella 4">
            <a:extLst>
              <a:ext uri="{FF2B5EF4-FFF2-40B4-BE49-F238E27FC236}">
                <a16:creationId xmlns:a16="http://schemas.microsoft.com/office/drawing/2014/main" id="{6E09A888-4094-AD33-9C0A-2D424731D489}"/>
              </a:ext>
            </a:extLst>
          </p:cNvPr>
          <p:cNvGraphicFramePr>
            <a:graphicFrameLocks noGrp="1"/>
          </p:cNvGraphicFramePr>
          <p:nvPr>
            <p:extLst>
              <p:ext uri="{D42A27DB-BD31-4B8C-83A1-F6EECF244321}">
                <p14:modId xmlns:p14="http://schemas.microsoft.com/office/powerpoint/2010/main" val="954372091"/>
              </p:ext>
            </p:extLst>
          </p:nvPr>
        </p:nvGraphicFramePr>
        <p:xfrm>
          <a:off x="4231587" y="2997394"/>
          <a:ext cx="7504414" cy="3136627"/>
        </p:xfrm>
        <a:graphic>
          <a:graphicData uri="http://schemas.openxmlformats.org/drawingml/2006/table">
            <a:tbl>
              <a:tblPr firstRow="1" bandRow="1">
                <a:tableStyleId>{B49EECCA-3B2E-439E-A9FE-AE0BB2C482AD}</a:tableStyleId>
              </a:tblPr>
              <a:tblGrid>
                <a:gridCol w="4364266">
                  <a:extLst>
                    <a:ext uri="{9D8B030D-6E8A-4147-A177-3AD203B41FA5}">
                      <a16:colId xmlns:a16="http://schemas.microsoft.com/office/drawing/2014/main" val="3505684004"/>
                    </a:ext>
                  </a:extLst>
                </a:gridCol>
                <a:gridCol w="3140148">
                  <a:extLst>
                    <a:ext uri="{9D8B030D-6E8A-4147-A177-3AD203B41FA5}">
                      <a16:colId xmlns:a16="http://schemas.microsoft.com/office/drawing/2014/main" val="2422322160"/>
                    </a:ext>
                  </a:extLst>
                </a:gridCol>
              </a:tblGrid>
              <a:tr h="494961">
                <a:tc>
                  <a:txBody>
                    <a:bodyPr/>
                    <a:lstStyle/>
                    <a:p>
                      <a:r>
                        <a:rPr lang="it-IT" sz="2400" dirty="0"/>
                        <a:t>Serie</a:t>
                      </a:r>
                    </a:p>
                  </a:txBody>
                  <a:tcPr/>
                </a:tc>
                <a:tc>
                  <a:txBody>
                    <a:bodyPr/>
                    <a:lstStyle/>
                    <a:p>
                      <a:r>
                        <a:rPr lang="it-IT" sz="2400" dirty="0"/>
                        <a:t>HPD 180</a:t>
                      </a:r>
                    </a:p>
                  </a:txBody>
                  <a:tcPr/>
                </a:tc>
                <a:extLst>
                  <a:ext uri="{0D108BD9-81ED-4DB2-BD59-A6C34878D82A}">
                    <a16:rowId xmlns:a16="http://schemas.microsoft.com/office/drawing/2014/main" val="866119402"/>
                  </a:ext>
                </a:extLst>
              </a:tr>
              <a:tr h="560906">
                <a:tc>
                  <a:txBody>
                    <a:bodyPr/>
                    <a:lstStyle/>
                    <a:p>
                      <a:r>
                        <a:rPr lang="it-IT" sz="2400" dirty="0"/>
                        <a:t>Rapporto di riduzione</a:t>
                      </a:r>
                    </a:p>
                  </a:txBody>
                  <a:tcPr/>
                </a:tc>
                <a:tc>
                  <a:txBody>
                    <a:bodyPr/>
                    <a:lstStyle/>
                    <a:p>
                      <a:r>
                        <a:rPr lang="it-IT" sz="2400" dirty="0"/>
                        <a:t>1/28</a:t>
                      </a:r>
                    </a:p>
                  </a:txBody>
                  <a:tcPr/>
                </a:tc>
                <a:extLst>
                  <a:ext uri="{0D108BD9-81ED-4DB2-BD59-A6C34878D82A}">
                    <a16:rowId xmlns:a16="http://schemas.microsoft.com/office/drawing/2014/main" val="2543714435"/>
                  </a:ext>
                </a:extLst>
              </a:tr>
              <a:tr h="520190">
                <a:tc>
                  <a:txBody>
                    <a:bodyPr/>
                    <a:lstStyle/>
                    <a:p>
                      <a:r>
                        <a:rPr lang="it-IT" sz="2400" dirty="0"/>
                        <a:t>Coppia massima albero lento</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400" dirty="0"/>
                        <a:t>1200 Nm</a:t>
                      </a:r>
                    </a:p>
                  </a:txBody>
                  <a:tcPr/>
                </a:tc>
                <a:extLst>
                  <a:ext uri="{0D108BD9-81ED-4DB2-BD59-A6C34878D82A}">
                    <a16:rowId xmlns:a16="http://schemas.microsoft.com/office/drawing/2014/main" val="1785713934"/>
                  </a:ext>
                </a:extLst>
              </a:tr>
              <a:tr h="520190">
                <a:tc>
                  <a:txBody>
                    <a:bodyPr/>
                    <a:lstStyle/>
                    <a:p>
                      <a:r>
                        <a:rPr lang="it-IT" sz="2400" dirty="0"/>
                        <a:t>Coppia nominale albero lento</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400" dirty="0"/>
                        <a:t>1100 Nm</a:t>
                      </a:r>
                    </a:p>
                  </a:txBody>
                  <a:tcPr/>
                </a:tc>
                <a:extLst>
                  <a:ext uri="{0D108BD9-81ED-4DB2-BD59-A6C34878D82A}">
                    <a16:rowId xmlns:a16="http://schemas.microsoft.com/office/drawing/2014/main" val="2855032228"/>
                  </a:ext>
                </a:extLst>
              </a:tr>
              <a:tr h="520190">
                <a:tc>
                  <a:txBody>
                    <a:bodyPr/>
                    <a:lstStyle/>
                    <a:p>
                      <a:r>
                        <a:rPr lang="it-IT" sz="2400" dirty="0"/>
                        <a:t>Rendimento</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400" dirty="0"/>
                        <a:t>95%</a:t>
                      </a:r>
                    </a:p>
                  </a:txBody>
                  <a:tcPr/>
                </a:tc>
                <a:extLst>
                  <a:ext uri="{0D108BD9-81ED-4DB2-BD59-A6C34878D82A}">
                    <a16:rowId xmlns:a16="http://schemas.microsoft.com/office/drawing/2014/main" val="1045266455"/>
                  </a:ext>
                </a:extLst>
              </a:tr>
              <a:tr h="520190">
                <a:tc>
                  <a:txBody>
                    <a:bodyPr/>
                    <a:lstStyle/>
                    <a:p>
                      <a:r>
                        <a:rPr lang="it-IT" sz="2400" dirty="0"/>
                        <a:t>Inerzia all’albero di ingresso</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400" dirty="0"/>
                        <a:t>1e-3 Kg*m^2</a:t>
                      </a:r>
                    </a:p>
                  </a:txBody>
                  <a:tcPr/>
                </a:tc>
                <a:extLst>
                  <a:ext uri="{0D108BD9-81ED-4DB2-BD59-A6C34878D82A}">
                    <a16:rowId xmlns:a16="http://schemas.microsoft.com/office/drawing/2014/main" val="2477938325"/>
                  </a:ext>
                </a:extLst>
              </a:tr>
            </a:tbl>
          </a:graphicData>
        </a:graphic>
      </p:graphicFrame>
      <p:pic>
        <p:nvPicPr>
          <p:cNvPr id="8" name="Immagine 7">
            <a:extLst>
              <a:ext uri="{FF2B5EF4-FFF2-40B4-BE49-F238E27FC236}">
                <a16:creationId xmlns:a16="http://schemas.microsoft.com/office/drawing/2014/main" id="{D2D8C200-029B-3413-0B37-6974046FF60E}"/>
              </a:ext>
            </a:extLst>
          </p:cNvPr>
          <p:cNvPicPr>
            <a:picLocks noChangeAspect="1"/>
          </p:cNvPicPr>
          <p:nvPr/>
        </p:nvPicPr>
        <p:blipFill>
          <a:blip r:embed="rId3"/>
          <a:stretch>
            <a:fillRect/>
          </a:stretch>
        </p:blipFill>
        <p:spPr>
          <a:xfrm>
            <a:off x="538394" y="3165264"/>
            <a:ext cx="3328063" cy="3136625"/>
          </a:xfrm>
          <a:prstGeom prst="rect">
            <a:avLst/>
          </a:prstGeom>
        </p:spPr>
      </p:pic>
      <p:sp>
        <p:nvSpPr>
          <p:cNvPr id="7" name="Titolo 8">
            <a:extLst>
              <a:ext uri="{FF2B5EF4-FFF2-40B4-BE49-F238E27FC236}">
                <a16:creationId xmlns:a16="http://schemas.microsoft.com/office/drawing/2014/main" id="{285E7D7E-F27F-A76F-F9BB-231647A9D84B}"/>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del riduttore</a:t>
            </a:r>
          </a:p>
        </p:txBody>
      </p:sp>
    </p:spTree>
    <p:extLst>
      <p:ext uri="{BB962C8B-B14F-4D97-AF65-F5344CB8AC3E}">
        <p14:creationId xmlns:p14="http://schemas.microsoft.com/office/powerpoint/2010/main" val="35978315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D8982FD-4E80-9063-3EBD-190A94AF159D}"/>
            </a:ext>
          </a:extLst>
        </p:cNvPr>
        <p:cNvGrpSpPr/>
        <p:nvPr/>
      </p:nvGrpSpPr>
      <p:grpSpPr>
        <a:xfrm>
          <a:off x="0" y="0"/>
          <a:ext cx="0" cy="0"/>
          <a:chOff x="0" y="0"/>
          <a:chExt cx="0" cy="0"/>
        </a:xfrm>
      </p:grpSpPr>
      <p:grpSp>
        <p:nvGrpSpPr>
          <p:cNvPr id="2" name="Gruppo 1">
            <a:extLst>
              <a:ext uri="{FF2B5EF4-FFF2-40B4-BE49-F238E27FC236}">
                <a16:creationId xmlns:a16="http://schemas.microsoft.com/office/drawing/2014/main" id="{9999E19A-D1B3-19E2-2B6C-BDA1EBBD2C20}"/>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A42D4DE2-7C13-B3BA-A1F2-C5F2BBB7BE24}"/>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B696BF5B-4247-C743-CCB4-F76BA5EA5E97}"/>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7" name="Titolo 8">
            <a:extLst>
              <a:ext uri="{FF2B5EF4-FFF2-40B4-BE49-F238E27FC236}">
                <a16:creationId xmlns:a16="http://schemas.microsoft.com/office/drawing/2014/main" id="{AF99649F-A318-2702-9D2E-89993FB88985}"/>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del riduttore</a:t>
            </a:r>
          </a:p>
        </p:txBody>
      </p:sp>
      <p:sp>
        <p:nvSpPr>
          <p:cNvPr id="12" name="Google Shape;105;p2">
            <a:extLst>
              <a:ext uri="{FF2B5EF4-FFF2-40B4-BE49-F238E27FC236}">
                <a16:creationId xmlns:a16="http://schemas.microsoft.com/office/drawing/2014/main" id="{ED625161-274D-C928-8696-9CB0120952F3}"/>
              </a:ext>
            </a:extLst>
          </p:cNvPr>
          <p:cNvSpPr txBox="1">
            <a:spLocks/>
          </p:cNvSpPr>
          <p:nvPr/>
        </p:nvSpPr>
        <p:spPr>
          <a:xfrm>
            <a:off x="4968239" y="1290577"/>
            <a:ext cx="6767761" cy="5219257"/>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Il </a:t>
            </a:r>
            <a:r>
              <a:rPr lang="it-IT" dirty="0">
                <a:solidFill>
                  <a:schemeClr val="accent6"/>
                </a:solidFill>
              </a:rPr>
              <a:t>primo blocco</a:t>
            </a:r>
            <a:r>
              <a:rPr lang="it-IT" dirty="0"/>
              <a:t> viene escluso dall’algoritmo a causa del parametro T2B. </a:t>
            </a:r>
          </a:p>
          <a:p>
            <a:pPr marL="0" indent="0">
              <a:spcBef>
                <a:spcPts val="0"/>
              </a:spcBef>
              <a:buSzPts val="3200"/>
              <a:buFont typeface="Arial"/>
              <a:buNone/>
            </a:pPr>
            <a:r>
              <a:rPr lang="it-IT" dirty="0"/>
              <a:t>Il </a:t>
            </a:r>
            <a:r>
              <a:rPr lang="it-IT" dirty="0">
                <a:solidFill>
                  <a:srgbClr val="7030A0"/>
                </a:solidFill>
              </a:rPr>
              <a:t>secondo blocco </a:t>
            </a:r>
            <a:r>
              <a:rPr lang="it-IT" dirty="0"/>
              <a:t>soddisfa le condizioni riguardo T2B, ma non entro il coefficiente di sicurezza imposto.</a:t>
            </a:r>
          </a:p>
          <a:p>
            <a:pPr marL="0" indent="0">
              <a:spcBef>
                <a:spcPts val="0"/>
              </a:spcBef>
              <a:buSzPts val="3200"/>
              <a:buFont typeface="Arial"/>
              <a:buNone/>
            </a:pPr>
            <a:r>
              <a:rPr lang="it-IT" dirty="0"/>
              <a:t>Il </a:t>
            </a:r>
            <a:r>
              <a:rPr lang="it-IT" dirty="0">
                <a:solidFill>
                  <a:schemeClr val="accent2"/>
                </a:solidFill>
              </a:rPr>
              <a:t>terzo blocco</a:t>
            </a:r>
            <a:r>
              <a:rPr lang="it-IT" dirty="0"/>
              <a:t> è escluso a causa dell’influenza del fattore di servizio.</a:t>
            </a:r>
          </a:p>
          <a:p>
            <a:pPr marL="0" indent="0">
              <a:spcBef>
                <a:spcPts val="0"/>
              </a:spcBef>
              <a:buSzPts val="3200"/>
              <a:buFont typeface="Arial"/>
              <a:buNone/>
            </a:pPr>
            <a:r>
              <a:rPr lang="it-IT" dirty="0"/>
              <a:t>Il </a:t>
            </a:r>
            <a:r>
              <a:rPr lang="it-IT" dirty="0">
                <a:solidFill>
                  <a:srgbClr val="FF0000"/>
                </a:solidFill>
              </a:rPr>
              <a:t>quarto blocco </a:t>
            </a:r>
            <a:r>
              <a:rPr lang="it-IT" dirty="0"/>
              <a:t>è escluso a causa della ridotta velocità di ingresso nominale. </a:t>
            </a:r>
          </a:p>
          <a:p>
            <a:pPr marL="0" indent="0">
              <a:spcBef>
                <a:spcPts val="0"/>
              </a:spcBef>
              <a:buSzPts val="3200"/>
              <a:buFont typeface="Arial"/>
              <a:buNone/>
            </a:pPr>
            <a:r>
              <a:rPr lang="it-IT" dirty="0"/>
              <a:t>Il motore scelto è, dunque, quello che comporta una minore coppia richiesta al motore.</a:t>
            </a:r>
          </a:p>
          <a:p>
            <a:pPr marL="0" indent="0">
              <a:spcBef>
                <a:spcPts val="0"/>
              </a:spcBef>
              <a:buSzPts val="3200"/>
              <a:buFont typeface="Arial"/>
              <a:buNone/>
            </a:pPr>
            <a:endParaRPr lang="it-IT" dirty="0"/>
          </a:p>
        </p:txBody>
      </p:sp>
      <p:grpSp>
        <p:nvGrpSpPr>
          <p:cNvPr id="16" name="Gruppo 15">
            <a:extLst>
              <a:ext uri="{FF2B5EF4-FFF2-40B4-BE49-F238E27FC236}">
                <a16:creationId xmlns:a16="http://schemas.microsoft.com/office/drawing/2014/main" id="{4CFFE919-699E-37C2-7368-4534F97AE470}"/>
              </a:ext>
            </a:extLst>
          </p:cNvPr>
          <p:cNvGrpSpPr/>
          <p:nvPr/>
        </p:nvGrpSpPr>
        <p:grpSpPr>
          <a:xfrm>
            <a:off x="216311" y="1290578"/>
            <a:ext cx="4777636" cy="5241772"/>
            <a:chOff x="216311" y="1584960"/>
            <a:chExt cx="4509319" cy="4947389"/>
          </a:xfrm>
        </p:grpSpPr>
        <p:pic>
          <p:nvPicPr>
            <p:cNvPr id="9" name="Immagine 8">
              <a:extLst>
                <a:ext uri="{FF2B5EF4-FFF2-40B4-BE49-F238E27FC236}">
                  <a16:creationId xmlns:a16="http://schemas.microsoft.com/office/drawing/2014/main" id="{1F818FF7-19C3-4836-9EC8-B41338F0A084}"/>
                </a:ext>
              </a:extLst>
            </p:cNvPr>
            <p:cNvPicPr>
              <a:picLocks noChangeAspect="1"/>
            </p:cNvPicPr>
            <p:nvPr/>
          </p:nvPicPr>
          <p:blipFill>
            <a:blip r:embed="rId3"/>
            <a:srcRect t="11302"/>
            <a:stretch>
              <a:fillRect/>
            </a:stretch>
          </p:blipFill>
          <p:spPr>
            <a:xfrm>
              <a:off x="216311" y="1584960"/>
              <a:ext cx="4509319" cy="4947389"/>
            </a:xfrm>
            <a:prstGeom prst="rect">
              <a:avLst/>
            </a:prstGeom>
          </p:spPr>
        </p:pic>
        <p:sp>
          <p:nvSpPr>
            <p:cNvPr id="10" name="Rettangolo 9">
              <a:extLst>
                <a:ext uri="{FF2B5EF4-FFF2-40B4-BE49-F238E27FC236}">
                  <a16:creationId xmlns:a16="http://schemas.microsoft.com/office/drawing/2014/main" id="{3041EC96-CCF9-9B95-E52F-7763E82C5C5E}"/>
                </a:ext>
              </a:extLst>
            </p:cNvPr>
            <p:cNvSpPr/>
            <p:nvPr/>
          </p:nvSpPr>
          <p:spPr>
            <a:xfrm>
              <a:off x="216311" y="1584960"/>
              <a:ext cx="4378549" cy="1943100"/>
            </a:xfrm>
            <a:prstGeom prst="rect">
              <a:avLst/>
            </a:prstGeom>
            <a:solidFill>
              <a:schemeClr val="accent6">
                <a:alpha val="50196"/>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3" name="Rettangolo 12">
              <a:extLst>
                <a:ext uri="{FF2B5EF4-FFF2-40B4-BE49-F238E27FC236}">
                  <a16:creationId xmlns:a16="http://schemas.microsoft.com/office/drawing/2014/main" id="{8155C965-4006-D8CD-107F-EF9985BEEFCB}"/>
                </a:ext>
              </a:extLst>
            </p:cNvPr>
            <p:cNvSpPr/>
            <p:nvPr/>
          </p:nvSpPr>
          <p:spPr>
            <a:xfrm>
              <a:off x="216311" y="3545933"/>
              <a:ext cx="4378549" cy="987967"/>
            </a:xfrm>
            <a:prstGeom prst="rect">
              <a:avLst/>
            </a:prstGeom>
            <a:solidFill>
              <a:srgbClr val="7030A0">
                <a:alpha val="50196"/>
              </a:srgbClr>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4" name="Rettangolo 13">
              <a:extLst>
                <a:ext uri="{FF2B5EF4-FFF2-40B4-BE49-F238E27FC236}">
                  <a16:creationId xmlns:a16="http://schemas.microsoft.com/office/drawing/2014/main" id="{EBE2786D-F365-8137-EFE1-5735E32F2353}"/>
                </a:ext>
              </a:extLst>
            </p:cNvPr>
            <p:cNvSpPr/>
            <p:nvPr/>
          </p:nvSpPr>
          <p:spPr>
            <a:xfrm>
              <a:off x="216311" y="4533900"/>
              <a:ext cx="4378549" cy="987967"/>
            </a:xfrm>
            <a:prstGeom prst="rect">
              <a:avLst/>
            </a:prstGeom>
            <a:solidFill>
              <a:schemeClr val="accent2">
                <a:alpha val="50196"/>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5" name="Rettangolo 14">
              <a:extLst>
                <a:ext uri="{FF2B5EF4-FFF2-40B4-BE49-F238E27FC236}">
                  <a16:creationId xmlns:a16="http://schemas.microsoft.com/office/drawing/2014/main" id="{A7025902-2510-108A-8469-84DAE19D0FC8}"/>
                </a:ext>
              </a:extLst>
            </p:cNvPr>
            <p:cNvSpPr/>
            <p:nvPr/>
          </p:nvSpPr>
          <p:spPr>
            <a:xfrm>
              <a:off x="216311" y="5920740"/>
              <a:ext cx="4378549" cy="589094"/>
            </a:xfrm>
            <a:prstGeom prst="rect">
              <a:avLst/>
            </a:prstGeom>
            <a:solidFill>
              <a:srgbClr val="FF0000">
                <a:alpha val="50196"/>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dirty="0"/>
            </a:p>
          </p:txBody>
        </p:sp>
      </p:grpSp>
    </p:spTree>
    <p:extLst>
      <p:ext uri="{BB962C8B-B14F-4D97-AF65-F5344CB8AC3E}">
        <p14:creationId xmlns:p14="http://schemas.microsoft.com/office/powerpoint/2010/main" val="3585978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7AAE87F-CF15-71FD-5BF2-708551157621}"/>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68C224A6-A67D-7EC1-4874-6FCD3C283793}"/>
              </a:ext>
            </a:extLst>
          </p:cNvPr>
          <p:cNvSpPr txBox="1">
            <a:spLocks/>
          </p:cNvSpPr>
          <p:nvPr/>
        </p:nvSpPr>
        <p:spPr>
          <a:xfrm>
            <a:off x="395148" y="1351356"/>
            <a:ext cx="11401704" cy="1273857"/>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Considerando il contributo di forze di attrito e di inerzia, oltre alla coppia alla manovella, si ottiene la coppia richiesta al motore. Si riporta un confronto tra i punti di lavoro e la curva caratteristica:</a:t>
            </a:r>
          </a:p>
        </p:txBody>
      </p:sp>
      <p:grpSp>
        <p:nvGrpSpPr>
          <p:cNvPr id="2" name="Gruppo 1">
            <a:extLst>
              <a:ext uri="{FF2B5EF4-FFF2-40B4-BE49-F238E27FC236}">
                <a16:creationId xmlns:a16="http://schemas.microsoft.com/office/drawing/2014/main" id="{46D29C80-6B76-7A4D-15A5-6091E4FE37A8}"/>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191288DF-FDAE-23A0-C346-F8AE7AC3D87E}"/>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35D70798-96AE-8F10-9B8F-768B8D049F54}"/>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7" name="Immagine 6" descr="Immagine che contiene testo, linea, diagramma, schermata&#10;&#10;Il contenuto generato dall'IA potrebbe non essere corretto.">
            <a:extLst>
              <a:ext uri="{FF2B5EF4-FFF2-40B4-BE49-F238E27FC236}">
                <a16:creationId xmlns:a16="http://schemas.microsoft.com/office/drawing/2014/main" id="{2C393979-AD87-199B-6F7F-BBBADF634B1E}"/>
              </a:ext>
            </a:extLst>
          </p:cNvPr>
          <p:cNvPicPr>
            <a:picLocks noChangeAspect="1"/>
          </p:cNvPicPr>
          <p:nvPr/>
        </p:nvPicPr>
        <p:blipFill>
          <a:blip r:embed="rId3"/>
          <a:stretch>
            <a:fillRect/>
          </a:stretch>
        </p:blipFill>
        <p:spPr>
          <a:xfrm>
            <a:off x="808100" y="2625213"/>
            <a:ext cx="4914271" cy="3685703"/>
          </a:xfrm>
          <a:prstGeom prst="rect">
            <a:avLst/>
          </a:prstGeom>
        </p:spPr>
      </p:pic>
      <p:graphicFrame>
        <p:nvGraphicFramePr>
          <p:cNvPr id="8" name="Tabella 7">
            <a:extLst>
              <a:ext uri="{FF2B5EF4-FFF2-40B4-BE49-F238E27FC236}">
                <a16:creationId xmlns:a16="http://schemas.microsoft.com/office/drawing/2014/main" id="{9118AEA5-6D55-E6C2-99D9-553B00688F04}"/>
              </a:ext>
            </a:extLst>
          </p:cNvPr>
          <p:cNvGraphicFramePr>
            <a:graphicFrameLocks noGrp="1"/>
          </p:cNvGraphicFramePr>
          <p:nvPr>
            <p:extLst>
              <p:ext uri="{D42A27DB-BD31-4B8C-83A1-F6EECF244321}">
                <p14:modId xmlns:p14="http://schemas.microsoft.com/office/powerpoint/2010/main" val="4188817844"/>
              </p:ext>
            </p:extLst>
          </p:nvPr>
        </p:nvGraphicFramePr>
        <p:xfrm>
          <a:off x="6469630" y="2821859"/>
          <a:ext cx="5093109" cy="3213840"/>
        </p:xfrm>
        <a:graphic>
          <a:graphicData uri="http://schemas.openxmlformats.org/drawingml/2006/table">
            <a:tbl>
              <a:tblPr firstRow="1" bandRow="1">
                <a:tableStyleId>{B49EECCA-3B2E-439E-A9FE-AE0BB2C482AD}</a:tableStyleId>
              </a:tblPr>
              <a:tblGrid>
                <a:gridCol w="3805480">
                  <a:extLst>
                    <a:ext uri="{9D8B030D-6E8A-4147-A177-3AD203B41FA5}">
                      <a16:colId xmlns:a16="http://schemas.microsoft.com/office/drawing/2014/main" val="3505684004"/>
                    </a:ext>
                  </a:extLst>
                </a:gridCol>
                <a:gridCol w="1287629">
                  <a:extLst>
                    <a:ext uri="{9D8B030D-6E8A-4147-A177-3AD203B41FA5}">
                      <a16:colId xmlns:a16="http://schemas.microsoft.com/office/drawing/2014/main" val="2422322160"/>
                    </a:ext>
                  </a:extLst>
                </a:gridCol>
              </a:tblGrid>
              <a:tr h="439902">
                <a:tc>
                  <a:txBody>
                    <a:bodyPr/>
                    <a:lstStyle/>
                    <a:p>
                      <a:r>
                        <a:rPr lang="it-IT" sz="2000" dirty="0"/>
                        <a:t>Identificativo motore</a:t>
                      </a:r>
                    </a:p>
                  </a:txBody>
                  <a:tcPr/>
                </a:tc>
                <a:tc>
                  <a:txBody>
                    <a:bodyPr/>
                    <a:lstStyle/>
                    <a:p>
                      <a:r>
                        <a:rPr lang="it-IT" sz="2000" dirty="0"/>
                        <a:t>AKM43G</a:t>
                      </a:r>
                    </a:p>
                  </a:txBody>
                  <a:tcPr/>
                </a:tc>
                <a:extLst>
                  <a:ext uri="{0D108BD9-81ED-4DB2-BD59-A6C34878D82A}">
                    <a16:rowId xmlns:a16="http://schemas.microsoft.com/office/drawing/2014/main" val="866119402"/>
                  </a:ext>
                </a:extLst>
              </a:tr>
              <a:tr h="462323">
                <a:tc>
                  <a:txBody>
                    <a:bodyPr/>
                    <a:lstStyle/>
                    <a:p>
                      <a:r>
                        <a:rPr lang="it-IT" sz="2000" dirty="0"/>
                        <a:t>Coppia di stallo di picco</a:t>
                      </a:r>
                    </a:p>
                  </a:txBody>
                  <a:tcPr/>
                </a:tc>
                <a:tc>
                  <a:txBody>
                    <a:bodyPr/>
                    <a:lstStyle/>
                    <a:p>
                      <a:r>
                        <a:rPr lang="it-IT" sz="2000" dirty="0"/>
                        <a:t>10,9 Nm</a:t>
                      </a:r>
                    </a:p>
                  </a:txBody>
                  <a:tcPr/>
                </a:tc>
                <a:extLst>
                  <a:ext uri="{0D108BD9-81ED-4DB2-BD59-A6C34878D82A}">
                    <a16:rowId xmlns:a16="http://schemas.microsoft.com/office/drawing/2014/main" val="2543714435"/>
                  </a:ext>
                </a:extLst>
              </a:tr>
              <a:tr h="462323">
                <a:tc>
                  <a:txBody>
                    <a:bodyPr/>
                    <a:lstStyle/>
                    <a:p>
                      <a:r>
                        <a:rPr lang="it-IT" sz="2000" dirty="0"/>
                        <a:t>Coppia alla massima velocità</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1,25 Nm</a:t>
                      </a:r>
                    </a:p>
                  </a:txBody>
                  <a:tcPr/>
                </a:tc>
                <a:extLst>
                  <a:ext uri="{0D108BD9-81ED-4DB2-BD59-A6C34878D82A}">
                    <a16:rowId xmlns:a16="http://schemas.microsoft.com/office/drawing/2014/main" val="1785713934"/>
                  </a:ext>
                </a:extLst>
              </a:tr>
              <a:tr h="462323">
                <a:tc>
                  <a:txBody>
                    <a:bodyPr/>
                    <a:lstStyle/>
                    <a:p>
                      <a:r>
                        <a:rPr lang="it-IT" sz="2000" dirty="0"/>
                        <a:t>Coppia di stallo continua</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4,8 Nm</a:t>
                      </a:r>
                    </a:p>
                  </a:txBody>
                  <a:tcPr/>
                </a:tc>
                <a:extLst>
                  <a:ext uri="{0D108BD9-81ED-4DB2-BD59-A6C34878D82A}">
                    <a16:rowId xmlns:a16="http://schemas.microsoft.com/office/drawing/2014/main" val="2855032228"/>
                  </a:ext>
                </a:extLst>
              </a:tr>
              <a:tr h="462323">
                <a:tc>
                  <a:txBody>
                    <a:bodyPr/>
                    <a:lstStyle/>
                    <a:p>
                      <a:r>
                        <a:rPr lang="it-IT" sz="2000" dirty="0"/>
                        <a:t>Coppia nominale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3,01 Nm</a:t>
                      </a:r>
                    </a:p>
                  </a:txBody>
                  <a:tcPr/>
                </a:tc>
                <a:extLst>
                  <a:ext uri="{0D108BD9-81ED-4DB2-BD59-A6C34878D82A}">
                    <a16:rowId xmlns:a16="http://schemas.microsoft.com/office/drawing/2014/main" val="1045266455"/>
                  </a:ext>
                </a:extLst>
              </a:tr>
              <a:tr h="462323">
                <a:tc>
                  <a:txBody>
                    <a:bodyPr/>
                    <a:lstStyle/>
                    <a:p>
                      <a:r>
                        <a:rPr lang="it-IT" sz="2000" dirty="0"/>
                        <a:t>Velocità nominale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5000 rpm</a:t>
                      </a:r>
                    </a:p>
                  </a:txBody>
                  <a:tcPr/>
                </a:tc>
                <a:extLst>
                  <a:ext uri="{0D108BD9-81ED-4DB2-BD59-A6C34878D82A}">
                    <a16:rowId xmlns:a16="http://schemas.microsoft.com/office/drawing/2014/main" val="2477938325"/>
                  </a:ext>
                </a:extLst>
              </a:tr>
              <a:tr h="462323">
                <a:tc>
                  <a:txBody>
                    <a:bodyPr/>
                    <a:lstStyle/>
                    <a:p>
                      <a:r>
                        <a:rPr lang="it-IT" sz="2000" dirty="0"/>
                        <a:t>Velocità massima</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it-IT" sz="2000" dirty="0"/>
                        <a:t>6000 rpm</a:t>
                      </a:r>
                    </a:p>
                  </a:txBody>
                  <a:tcPr/>
                </a:tc>
                <a:extLst>
                  <a:ext uri="{0D108BD9-81ED-4DB2-BD59-A6C34878D82A}">
                    <a16:rowId xmlns:a16="http://schemas.microsoft.com/office/drawing/2014/main" val="253030416"/>
                  </a:ext>
                </a:extLst>
              </a:tr>
            </a:tbl>
          </a:graphicData>
        </a:graphic>
      </p:graphicFrame>
      <p:sp>
        <p:nvSpPr>
          <p:cNvPr id="5" name="Titolo 8">
            <a:extLst>
              <a:ext uri="{FF2B5EF4-FFF2-40B4-BE49-F238E27FC236}">
                <a16:creationId xmlns:a16="http://schemas.microsoft.com/office/drawing/2014/main" id="{49F833E3-6122-4838-3A1A-7A247F39D76B}"/>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del riduttore</a:t>
            </a:r>
          </a:p>
        </p:txBody>
      </p:sp>
    </p:spTree>
    <p:extLst>
      <p:ext uri="{BB962C8B-B14F-4D97-AF65-F5344CB8AC3E}">
        <p14:creationId xmlns:p14="http://schemas.microsoft.com/office/powerpoint/2010/main" val="17140615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B0606CD-3F2D-900F-E63F-0AC9EF0EF547}"/>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AB247F7E-4CD3-FD5E-BF14-EFDDF4BB0807}"/>
              </a:ext>
            </a:extLst>
          </p:cNvPr>
          <p:cNvSpPr txBox="1">
            <a:spLocks/>
          </p:cNvSpPr>
          <p:nvPr/>
        </p:nvSpPr>
        <p:spPr>
          <a:xfrm>
            <a:off x="450628" y="1853790"/>
            <a:ext cx="4690733" cy="400491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Attraverso il metodo di sintesi cinematica, è possibile ottenere una camma che garantisca un moto del pattino pari a quello analizzato finora. Si evince che il raggio della camma necessario per tale applicazioni è 0,557 m.</a:t>
            </a:r>
          </a:p>
        </p:txBody>
      </p:sp>
      <p:grpSp>
        <p:nvGrpSpPr>
          <p:cNvPr id="2" name="Gruppo 1">
            <a:extLst>
              <a:ext uri="{FF2B5EF4-FFF2-40B4-BE49-F238E27FC236}">
                <a16:creationId xmlns:a16="http://schemas.microsoft.com/office/drawing/2014/main" id="{5CC81F5D-5802-F63C-CFA4-813868AACA6B}"/>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8523D357-0FC4-2536-E107-0EA574D05632}"/>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ED3874D4-265D-3BE2-2F57-81E25DA4FC75}"/>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7" name="Immagine 6">
            <a:extLst>
              <a:ext uri="{FF2B5EF4-FFF2-40B4-BE49-F238E27FC236}">
                <a16:creationId xmlns:a16="http://schemas.microsoft.com/office/drawing/2014/main" id="{752095FE-54CA-9E6C-8541-81C0B0463BB9}"/>
              </a:ext>
            </a:extLst>
          </p:cNvPr>
          <p:cNvPicPr>
            <a:picLocks noChangeAspect="1"/>
          </p:cNvPicPr>
          <p:nvPr/>
        </p:nvPicPr>
        <p:blipFill>
          <a:blip r:embed="rId3"/>
          <a:srcRect/>
          <a:stretch/>
        </p:blipFill>
        <p:spPr>
          <a:xfrm>
            <a:off x="5146733" y="1291979"/>
            <a:ext cx="6838043" cy="5128532"/>
          </a:xfrm>
          <a:prstGeom prst="rect">
            <a:avLst/>
          </a:prstGeom>
        </p:spPr>
      </p:pic>
      <p:sp>
        <p:nvSpPr>
          <p:cNvPr id="5" name="Titolo 8">
            <a:extLst>
              <a:ext uri="{FF2B5EF4-FFF2-40B4-BE49-F238E27FC236}">
                <a16:creationId xmlns:a16="http://schemas.microsoft.com/office/drawing/2014/main" id="{59AF8CB4-9F3C-C9E9-1B0A-1FB27BA35591}"/>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della camma</a:t>
            </a:r>
          </a:p>
        </p:txBody>
      </p:sp>
    </p:spTree>
    <p:extLst>
      <p:ext uri="{BB962C8B-B14F-4D97-AF65-F5344CB8AC3E}">
        <p14:creationId xmlns:p14="http://schemas.microsoft.com/office/powerpoint/2010/main" val="23929017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3754C26-4217-EB9B-9542-4F9A5AA3047A}"/>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46BBC6BD-B94F-A9BF-2172-F1F6EAE17CC9}"/>
              </a:ext>
            </a:extLst>
          </p:cNvPr>
          <p:cNvSpPr txBox="1">
            <a:spLocks/>
          </p:cNvSpPr>
          <p:nvPr/>
        </p:nvSpPr>
        <p:spPr>
          <a:xfrm>
            <a:off x="443465" y="2053064"/>
            <a:ext cx="3788122" cy="393435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Il diametro elevato è dovuto ai limiti imposti sugli angoli di pressione, più stringenti nella fase di spinta.</a:t>
            </a:r>
          </a:p>
        </p:txBody>
      </p:sp>
      <p:grpSp>
        <p:nvGrpSpPr>
          <p:cNvPr id="2" name="Gruppo 1">
            <a:extLst>
              <a:ext uri="{FF2B5EF4-FFF2-40B4-BE49-F238E27FC236}">
                <a16:creationId xmlns:a16="http://schemas.microsoft.com/office/drawing/2014/main" id="{50C0696A-94E6-1AE5-D3DB-C07B39507075}"/>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53343060-7A51-2084-15D5-3D6F5E0CB6CB}"/>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BC811447-D400-8C62-6565-15FF7F33D872}"/>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7" name="Immagine 6">
            <a:extLst>
              <a:ext uri="{FF2B5EF4-FFF2-40B4-BE49-F238E27FC236}">
                <a16:creationId xmlns:a16="http://schemas.microsoft.com/office/drawing/2014/main" id="{EB4ECC8B-77CC-7FBB-EAC7-5DCC8A2FEE00}"/>
              </a:ext>
            </a:extLst>
          </p:cNvPr>
          <p:cNvPicPr>
            <a:picLocks noChangeAspect="1"/>
          </p:cNvPicPr>
          <p:nvPr/>
        </p:nvPicPr>
        <p:blipFill>
          <a:blip r:embed="rId3"/>
          <a:srcRect/>
          <a:stretch/>
        </p:blipFill>
        <p:spPr>
          <a:xfrm>
            <a:off x="5754184" y="1429870"/>
            <a:ext cx="6076725" cy="4557543"/>
          </a:xfrm>
          <a:prstGeom prst="rect">
            <a:avLst/>
          </a:prstGeom>
        </p:spPr>
      </p:pic>
      <p:sp>
        <p:nvSpPr>
          <p:cNvPr id="5" name="Titolo 8">
            <a:extLst>
              <a:ext uri="{FF2B5EF4-FFF2-40B4-BE49-F238E27FC236}">
                <a16:creationId xmlns:a16="http://schemas.microsoft.com/office/drawing/2014/main" id="{0AB86607-F300-DAE2-8DA7-D8E2873C6ADD}"/>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Dimensionamento della camma</a:t>
            </a:r>
          </a:p>
        </p:txBody>
      </p:sp>
    </p:spTree>
    <p:extLst>
      <p:ext uri="{BB962C8B-B14F-4D97-AF65-F5344CB8AC3E}">
        <p14:creationId xmlns:p14="http://schemas.microsoft.com/office/powerpoint/2010/main" val="40917304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88AF4B-4755-BF51-7328-1FF2C11884B6}"/>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9D39C268-2760-692A-0441-EEB0A6C47D06}"/>
              </a:ext>
            </a:extLst>
          </p:cNvPr>
          <p:cNvSpPr txBox="1">
            <a:spLocks/>
          </p:cNvSpPr>
          <p:nvPr/>
        </p:nvSpPr>
        <p:spPr>
          <a:xfrm>
            <a:off x="455999" y="2272858"/>
            <a:ext cx="5458102" cy="393435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endParaRPr lang="it-IT" b="1" dirty="0"/>
          </a:p>
        </p:txBody>
      </p:sp>
      <p:grpSp>
        <p:nvGrpSpPr>
          <p:cNvPr id="2" name="Gruppo 1">
            <a:extLst>
              <a:ext uri="{FF2B5EF4-FFF2-40B4-BE49-F238E27FC236}">
                <a16:creationId xmlns:a16="http://schemas.microsoft.com/office/drawing/2014/main" id="{2E215887-1D36-BC14-0A50-6F518210CB6E}"/>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0C6712A0-DA63-68B7-1BE9-1C426A02D308}"/>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CA1B13DC-243B-B651-AAFE-73CDE49E5353}"/>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pic>
        <p:nvPicPr>
          <p:cNvPr id="12" name="Registrazione dello schermo 2025-05-29 084858">
            <a:hlinkClick r:id="" action="ppaction://media"/>
            <a:extLst>
              <a:ext uri="{FF2B5EF4-FFF2-40B4-BE49-F238E27FC236}">
                <a16:creationId xmlns:a16="http://schemas.microsoft.com/office/drawing/2014/main" id="{E65CE44D-FAF2-E47D-3D73-A004751924C2}"/>
              </a:ext>
            </a:extLst>
          </p:cNvPr>
          <p:cNvPicPr>
            <a:picLocks noChangeAspect="1"/>
          </p:cNvPicPr>
          <p:nvPr>
            <a:videoFile r:link="rId1"/>
            <p:extLst>
              <p:ext uri="{DAA4B4D4-6D71-4841-9C94-3DE7FCFB9230}">
                <p14:media xmlns:p14="http://schemas.microsoft.com/office/powerpoint/2010/main" r:embed="rId2">
                  <p14:trim end="3886.6458"/>
                </p14:media>
              </p:ext>
            </p:extLst>
          </p:nvPr>
        </p:nvPicPr>
        <p:blipFill>
          <a:blip r:embed="rId5"/>
          <a:srcRect l="22068" t="2812" r="21239" b="4977"/>
          <a:stretch>
            <a:fillRect/>
          </a:stretch>
        </p:blipFill>
        <p:spPr>
          <a:xfrm>
            <a:off x="517395" y="1637983"/>
            <a:ext cx="6817470" cy="4654888"/>
          </a:xfrm>
          <a:prstGeom prst="rect">
            <a:avLst/>
          </a:prstGeom>
        </p:spPr>
      </p:pic>
      <p:sp>
        <p:nvSpPr>
          <p:cNvPr id="13" name="Google Shape;105;p2">
            <a:extLst>
              <a:ext uri="{FF2B5EF4-FFF2-40B4-BE49-F238E27FC236}">
                <a16:creationId xmlns:a16="http://schemas.microsoft.com/office/drawing/2014/main" id="{CEC35E5D-72E3-2D98-F080-F4FC3A826F4D}"/>
              </a:ext>
            </a:extLst>
          </p:cNvPr>
          <p:cNvSpPr txBox="1">
            <a:spLocks/>
          </p:cNvSpPr>
          <p:nvPr/>
        </p:nvSpPr>
        <p:spPr>
          <a:xfrm>
            <a:off x="455999" y="1165702"/>
            <a:ext cx="11218606" cy="472281"/>
          </a:xfrm>
          <a:prstGeom prst="rect">
            <a:avLst/>
          </a:prstGeom>
          <a:noFill/>
          <a:ln>
            <a:noFill/>
          </a:ln>
        </p:spPr>
        <p:txBody>
          <a:bodyPr spcFirstLastPara="1" wrap="square" lIns="91425" tIns="45700" rIns="91425" bIns="45700" anchor="t" anchorCtr="0">
            <a:normAutofit lnSpcReduction="10000"/>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visualizza l’animazione ottenuta con Adams.</a:t>
            </a:r>
          </a:p>
        </p:txBody>
      </p:sp>
      <p:sp>
        <p:nvSpPr>
          <p:cNvPr id="14" name="Google Shape;105;p2">
            <a:extLst>
              <a:ext uri="{FF2B5EF4-FFF2-40B4-BE49-F238E27FC236}">
                <a16:creationId xmlns:a16="http://schemas.microsoft.com/office/drawing/2014/main" id="{4724768F-5785-7E58-ACCD-4AC37747FFF1}"/>
              </a:ext>
            </a:extLst>
          </p:cNvPr>
          <p:cNvSpPr txBox="1">
            <a:spLocks/>
          </p:cNvSpPr>
          <p:nvPr/>
        </p:nvSpPr>
        <p:spPr>
          <a:xfrm>
            <a:off x="7334865" y="1641417"/>
            <a:ext cx="4694904" cy="4651454"/>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Un’analisi migliore riguardo la coppia si avrebbe modellando opportunamente le forze di contatto tra handler, pacco e piano di lavoro.</a:t>
            </a:r>
          </a:p>
          <a:p>
            <a:pPr marL="0" indent="0">
              <a:spcBef>
                <a:spcPts val="0"/>
              </a:spcBef>
              <a:buSzPts val="3200"/>
              <a:buFont typeface="Arial"/>
              <a:buNone/>
            </a:pPr>
            <a:endParaRPr lang="it-IT" dirty="0"/>
          </a:p>
          <a:p>
            <a:pPr marL="0" indent="0">
              <a:spcBef>
                <a:spcPts val="0"/>
              </a:spcBef>
              <a:buSzPts val="3200"/>
              <a:buFont typeface="Arial"/>
              <a:buNone/>
            </a:pPr>
            <a:endParaRPr lang="it-IT" dirty="0"/>
          </a:p>
        </p:txBody>
      </p:sp>
      <p:sp>
        <p:nvSpPr>
          <p:cNvPr id="5" name="Titolo 8">
            <a:extLst>
              <a:ext uri="{FF2B5EF4-FFF2-40B4-BE49-F238E27FC236}">
                <a16:creationId xmlns:a16="http://schemas.microsoft.com/office/drawing/2014/main" id="{31A3189F-0412-7CEF-E2BE-090F5130D3FB}"/>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Simulazione in Adams</a:t>
            </a:r>
          </a:p>
        </p:txBody>
      </p:sp>
    </p:spTree>
    <p:extLst>
      <p:ext uri="{BB962C8B-B14F-4D97-AF65-F5344CB8AC3E}">
        <p14:creationId xmlns:p14="http://schemas.microsoft.com/office/powerpoint/2010/main" val="425997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4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mute="1">
                <p:cTn id="7" repeatCount="indefinite" fill="hold" display="0">
                  <p:stCondLst>
                    <p:cond delay="indefinite"/>
                  </p:stCondLst>
                </p:cTn>
                <p:tgtEl>
                  <p:spTgt spid="12"/>
                </p:tgtEl>
              </p:cMediaNode>
            </p:video>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2"/>
                                        </p:tgtEl>
                                      </p:cBhvr>
                                    </p:cmd>
                                  </p:childTnLst>
                                </p:cTn>
                              </p:par>
                            </p:childTnLst>
                          </p:cTn>
                        </p:par>
                      </p:childTnLst>
                    </p:cTn>
                  </p:par>
                </p:childTnLst>
              </p:cTn>
              <p:nextCondLst>
                <p:cond evt="onClick" delay="0">
                  <p:tgtEl>
                    <p:spTgt spid="12"/>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88AF4B-4755-BF51-7328-1FF2C11884B6}"/>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9D39C268-2760-692A-0441-EEB0A6C47D06}"/>
              </a:ext>
            </a:extLst>
          </p:cNvPr>
          <p:cNvSpPr txBox="1">
            <a:spLocks/>
          </p:cNvSpPr>
          <p:nvPr/>
        </p:nvSpPr>
        <p:spPr>
          <a:xfrm>
            <a:off x="455999" y="2272858"/>
            <a:ext cx="5458102" cy="393435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endParaRPr lang="it-IT" b="1" dirty="0"/>
          </a:p>
        </p:txBody>
      </p:sp>
      <p:grpSp>
        <p:nvGrpSpPr>
          <p:cNvPr id="2" name="Gruppo 1">
            <a:extLst>
              <a:ext uri="{FF2B5EF4-FFF2-40B4-BE49-F238E27FC236}">
                <a16:creationId xmlns:a16="http://schemas.microsoft.com/office/drawing/2014/main" id="{2E215887-1D36-BC14-0A50-6F518210CB6E}"/>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0C6712A0-DA63-68B7-1BE9-1C426A02D308}"/>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CA1B13DC-243B-B651-AAFE-73CDE49E5353}"/>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13" name="Google Shape;105;p2">
            <a:extLst>
              <a:ext uri="{FF2B5EF4-FFF2-40B4-BE49-F238E27FC236}">
                <a16:creationId xmlns:a16="http://schemas.microsoft.com/office/drawing/2014/main" id="{CEC35E5D-72E3-2D98-F080-F4FC3A826F4D}"/>
              </a:ext>
            </a:extLst>
          </p:cNvPr>
          <p:cNvSpPr txBox="1">
            <a:spLocks/>
          </p:cNvSpPr>
          <p:nvPr/>
        </p:nvSpPr>
        <p:spPr>
          <a:xfrm>
            <a:off x="455999" y="1165701"/>
            <a:ext cx="11218606" cy="139068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visualizza il valore della coppia alla manovella ottenuto dalla simulazione Adams. L’elevata discrepanza è dovuta alla simulazione dell’urto.</a:t>
            </a:r>
          </a:p>
        </p:txBody>
      </p:sp>
      <p:sp>
        <p:nvSpPr>
          <p:cNvPr id="5" name="Titolo 8">
            <a:extLst>
              <a:ext uri="{FF2B5EF4-FFF2-40B4-BE49-F238E27FC236}">
                <a16:creationId xmlns:a16="http://schemas.microsoft.com/office/drawing/2014/main" id="{31A3189F-0412-7CEF-E2BE-090F5130D3FB}"/>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Simulazione in Adams</a:t>
            </a:r>
          </a:p>
        </p:txBody>
      </p:sp>
      <p:pic>
        <p:nvPicPr>
          <p:cNvPr id="8" name="Immagine 7">
            <a:extLst>
              <a:ext uri="{FF2B5EF4-FFF2-40B4-BE49-F238E27FC236}">
                <a16:creationId xmlns:a16="http://schemas.microsoft.com/office/drawing/2014/main" id="{7A2CE918-8C1C-F2C5-7069-51569CCC27D2}"/>
              </a:ext>
            </a:extLst>
          </p:cNvPr>
          <p:cNvPicPr>
            <a:picLocks noChangeAspect="1"/>
          </p:cNvPicPr>
          <p:nvPr/>
        </p:nvPicPr>
        <p:blipFill>
          <a:blip r:embed="rId3"/>
          <a:srcRect l="2904" r="1576" b="11295"/>
          <a:stretch>
            <a:fillRect/>
          </a:stretch>
        </p:blipFill>
        <p:spPr>
          <a:xfrm>
            <a:off x="455999" y="2803685"/>
            <a:ext cx="11316933" cy="3581987"/>
          </a:xfrm>
          <a:prstGeom prst="rect">
            <a:avLst/>
          </a:prstGeom>
        </p:spPr>
      </p:pic>
    </p:spTree>
    <p:extLst>
      <p:ext uri="{BB962C8B-B14F-4D97-AF65-F5344CB8AC3E}">
        <p14:creationId xmlns:p14="http://schemas.microsoft.com/office/powerpoint/2010/main" val="15627125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88AF4B-4755-BF51-7328-1FF2C11884B6}"/>
            </a:ext>
          </a:extLst>
        </p:cNvPr>
        <p:cNvGrpSpPr/>
        <p:nvPr/>
      </p:nvGrpSpPr>
      <p:grpSpPr>
        <a:xfrm>
          <a:off x="0" y="0"/>
          <a:ext cx="0" cy="0"/>
          <a:chOff x="0" y="0"/>
          <a:chExt cx="0" cy="0"/>
        </a:xfrm>
      </p:grpSpPr>
      <p:grpSp>
        <p:nvGrpSpPr>
          <p:cNvPr id="2" name="Gruppo 1">
            <a:extLst>
              <a:ext uri="{FF2B5EF4-FFF2-40B4-BE49-F238E27FC236}">
                <a16:creationId xmlns:a16="http://schemas.microsoft.com/office/drawing/2014/main" id="{2E215887-1D36-BC14-0A50-6F518210CB6E}"/>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0C6712A0-DA63-68B7-1BE9-1C426A02D308}"/>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CA1B13DC-243B-B651-AAFE-73CDE49E5353}"/>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13" name="Google Shape;105;p2">
            <a:extLst>
              <a:ext uri="{FF2B5EF4-FFF2-40B4-BE49-F238E27FC236}">
                <a16:creationId xmlns:a16="http://schemas.microsoft.com/office/drawing/2014/main" id="{CEC35E5D-72E3-2D98-F080-F4FC3A826F4D}"/>
              </a:ext>
            </a:extLst>
          </p:cNvPr>
          <p:cNvSpPr txBox="1">
            <a:spLocks/>
          </p:cNvSpPr>
          <p:nvPr/>
        </p:nvSpPr>
        <p:spPr>
          <a:xfrm>
            <a:off x="455999" y="2008199"/>
            <a:ext cx="11218606" cy="472281"/>
          </a:xfrm>
          <a:prstGeom prst="rect">
            <a:avLst/>
          </a:prstGeom>
          <a:noFill/>
          <a:ln>
            <a:noFill/>
          </a:ln>
        </p:spPr>
        <p:txBody>
          <a:bodyPr spcFirstLastPara="1" wrap="square" lIns="91425" tIns="45700" rIns="91425" bIns="45700" anchor="t" anchorCtr="0">
            <a:normAutofit lnSpcReduction="10000"/>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visualizza l’animazione ottenuta con </a:t>
            </a:r>
            <a:r>
              <a:rPr lang="it-IT" dirty="0" err="1"/>
              <a:t>Simscape</a:t>
            </a:r>
            <a:endParaRPr lang="it-IT" dirty="0"/>
          </a:p>
        </p:txBody>
      </p:sp>
      <p:sp>
        <p:nvSpPr>
          <p:cNvPr id="14" name="Google Shape;105;p2">
            <a:extLst>
              <a:ext uri="{FF2B5EF4-FFF2-40B4-BE49-F238E27FC236}">
                <a16:creationId xmlns:a16="http://schemas.microsoft.com/office/drawing/2014/main" id="{4724768F-5785-7E58-ACCD-4AC37747FFF1}"/>
              </a:ext>
            </a:extLst>
          </p:cNvPr>
          <p:cNvSpPr txBox="1">
            <a:spLocks/>
          </p:cNvSpPr>
          <p:nvPr/>
        </p:nvSpPr>
        <p:spPr>
          <a:xfrm>
            <a:off x="6277900" y="2585979"/>
            <a:ext cx="4694904" cy="3529686"/>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endParaRPr lang="it-IT" dirty="0"/>
          </a:p>
        </p:txBody>
      </p:sp>
      <p:pic>
        <p:nvPicPr>
          <p:cNvPr id="7" name="Immagine 6">
            <a:extLst>
              <a:ext uri="{FF2B5EF4-FFF2-40B4-BE49-F238E27FC236}">
                <a16:creationId xmlns:a16="http://schemas.microsoft.com/office/drawing/2014/main" id="{CD2C2BF7-F18D-87CC-A7A4-AE1540FBE619}"/>
              </a:ext>
            </a:extLst>
          </p:cNvPr>
          <p:cNvPicPr>
            <a:picLocks noChangeAspect="1"/>
          </p:cNvPicPr>
          <p:nvPr/>
        </p:nvPicPr>
        <p:blipFill>
          <a:blip r:embed="rId3"/>
          <a:stretch>
            <a:fillRect/>
          </a:stretch>
        </p:blipFill>
        <p:spPr>
          <a:xfrm>
            <a:off x="0" y="1582024"/>
            <a:ext cx="12064493" cy="4750919"/>
          </a:xfrm>
          <a:prstGeom prst="rect">
            <a:avLst/>
          </a:prstGeom>
        </p:spPr>
      </p:pic>
      <p:sp>
        <p:nvSpPr>
          <p:cNvPr id="5" name="Titolo 8">
            <a:extLst>
              <a:ext uri="{FF2B5EF4-FFF2-40B4-BE49-F238E27FC236}">
                <a16:creationId xmlns:a16="http://schemas.microsoft.com/office/drawing/2014/main" id="{9270387D-19D2-7333-5C47-DCE6EE1F4ACA}"/>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Simulazione </a:t>
            </a:r>
            <a:r>
              <a:rPr lang="it-IT" dirty="0" err="1">
                <a:solidFill>
                  <a:schemeClr val="bg1"/>
                </a:solidFill>
              </a:rPr>
              <a:t>Simscape</a:t>
            </a:r>
            <a:endParaRPr lang="it-IT" dirty="0">
              <a:solidFill>
                <a:schemeClr val="bg1"/>
              </a:solidFill>
            </a:endParaRPr>
          </a:p>
        </p:txBody>
      </p:sp>
    </p:spTree>
    <p:extLst>
      <p:ext uri="{BB962C8B-B14F-4D97-AF65-F5344CB8AC3E}">
        <p14:creationId xmlns:p14="http://schemas.microsoft.com/office/powerpoint/2010/main" val="30554902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88AF4B-4755-BF51-7328-1FF2C11884B6}"/>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9D39C268-2760-692A-0441-EEB0A6C47D06}"/>
              </a:ext>
            </a:extLst>
          </p:cNvPr>
          <p:cNvSpPr txBox="1">
            <a:spLocks/>
          </p:cNvSpPr>
          <p:nvPr/>
        </p:nvSpPr>
        <p:spPr>
          <a:xfrm>
            <a:off x="455999" y="2272858"/>
            <a:ext cx="5458102" cy="393435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endParaRPr lang="it-IT" b="1" dirty="0"/>
          </a:p>
        </p:txBody>
      </p:sp>
      <p:grpSp>
        <p:nvGrpSpPr>
          <p:cNvPr id="2" name="Gruppo 1">
            <a:extLst>
              <a:ext uri="{FF2B5EF4-FFF2-40B4-BE49-F238E27FC236}">
                <a16:creationId xmlns:a16="http://schemas.microsoft.com/office/drawing/2014/main" id="{2E215887-1D36-BC14-0A50-6F518210CB6E}"/>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0C6712A0-DA63-68B7-1BE9-1C426A02D308}"/>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CA1B13DC-243B-B651-AAFE-73CDE49E5353}"/>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13" name="Google Shape;105;p2">
            <a:extLst>
              <a:ext uri="{FF2B5EF4-FFF2-40B4-BE49-F238E27FC236}">
                <a16:creationId xmlns:a16="http://schemas.microsoft.com/office/drawing/2014/main" id="{CEC35E5D-72E3-2D98-F080-F4FC3A826F4D}"/>
              </a:ext>
            </a:extLst>
          </p:cNvPr>
          <p:cNvSpPr txBox="1">
            <a:spLocks/>
          </p:cNvSpPr>
          <p:nvPr/>
        </p:nvSpPr>
        <p:spPr>
          <a:xfrm>
            <a:off x="0" y="1162268"/>
            <a:ext cx="11218606" cy="1337092"/>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Si visualizza l’animazione ottenuta con </a:t>
            </a:r>
            <a:r>
              <a:rPr lang="it-IT" dirty="0" err="1"/>
              <a:t>Simscape</a:t>
            </a:r>
            <a:r>
              <a:rPr lang="it-IT" dirty="0"/>
              <a:t>. La presenza del pacco è simulata modificando la massa del punto E attraverso un blocco funzione.</a:t>
            </a:r>
          </a:p>
        </p:txBody>
      </p:sp>
      <p:sp>
        <p:nvSpPr>
          <p:cNvPr id="14" name="Google Shape;105;p2">
            <a:extLst>
              <a:ext uri="{FF2B5EF4-FFF2-40B4-BE49-F238E27FC236}">
                <a16:creationId xmlns:a16="http://schemas.microsoft.com/office/drawing/2014/main" id="{4724768F-5785-7E58-ACCD-4AC37747FFF1}"/>
              </a:ext>
            </a:extLst>
          </p:cNvPr>
          <p:cNvSpPr txBox="1">
            <a:spLocks/>
          </p:cNvSpPr>
          <p:nvPr/>
        </p:nvSpPr>
        <p:spPr>
          <a:xfrm>
            <a:off x="6277900" y="2585979"/>
            <a:ext cx="4694904" cy="3529686"/>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endParaRPr lang="it-IT" dirty="0"/>
          </a:p>
        </p:txBody>
      </p:sp>
      <p:pic>
        <p:nvPicPr>
          <p:cNvPr id="5" name="20250603-2006-06.1008297">
            <a:hlinkClick r:id="" action="ppaction://media"/>
            <a:extLst>
              <a:ext uri="{FF2B5EF4-FFF2-40B4-BE49-F238E27FC236}">
                <a16:creationId xmlns:a16="http://schemas.microsoft.com/office/drawing/2014/main" id="{6EA3D4F8-0267-F916-B2C7-B67D4A01BCD4}"/>
              </a:ext>
            </a:extLst>
          </p:cNvPr>
          <p:cNvPicPr>
            <a:picLocks noChangeAspect="1"/>
          </p:cNvPicPr>
          <p:nvPr>
            <a:videoFile r:link="rId1"/>
            <p:extLst>
              <p:ext uri="{DAA4B4D4-6D71-4841-9C94-3DE7FCFB9230}">
                <p14:media xmlns:p14="http://schemas.microsoft.com/office/powerpoint/2010/main" r:embed="rId2">
                  <p14:trim end="2193.6458"/>
                </p14:media>
              </p:ext>
            </p:extLst>
          </p:nvPr>
        </p:nvPicPr>
        <p:blipFill>
          <a:blip r:embed="rId5"/>
          <a:stretch>
            <a:fillRect/>
          </a:stretch>
        </p:blipFill>
        <p:spPr>
          <a:xfrm>
            <a:off x="1332862" y="2585979"/>
            <a:ext cx="9464880" cy="3954792"/>
          </a:xfrm>
          <a:prstGeom prst="rect">
            <a:avLst/>
          </a:prstGeom>
        </p:spPr>
      </p:pic>
      <p:sp>
        <p:nvSpPr>
          <p:cNvPr id="9" name="Titolo 8">
            <a:extLst>
              <a:ext uri="{FF2B5EF4-FFF2-40B4-BE49-F238E27FC236}">
                <a16:creationId xmlns:a16="http://schemas.microsoft.com/office/drawing/2014/main" id="{598D7440-9801-C8D2-8F8C-6A6A49820134}"/>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Simulazione </a:t>
            </a:r>
            <a:r>
              <a:rPr lang="it-IT" dirty="0" err="1">
                <a:solidFill>
                  <a:schemeClr val="bg1"/>
                </a:solidFill>
              </a:rPr>
              <a:t>Simscape</a:t>
            </a:r>
            <a:endParaRPr lang="it-IT" dirty="0">
              <a:solidFill>
                <a:schemeClr val="bg1"/>
              </a:solidFill>
            </a:endParaRPr>
          </a:p>
        </p:txBody>
      </p:sp>
    </p:spTree>
    <p:extLst>
      <p:ext uri="{BB962C8B-B14F-4D97-AF65-F5344CB8AC3E}">
        <p14:creationId xmlns:p14="http://schemas.microsoft.com/office/powerpoint/2010/main" val="1853790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177"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88AF4B-4755-BF51-7328-1FF2C11884B6}"/>
            </a:ext>
          </a:extLst>
        </p:cNvPr>
        <p:cNvGrpSpPr/>
        <p:nvPr/>
      </p:nvGrpSpPr>
      <p:grpSpPr>
        <a:xfrm>
          <a:off x="0" y="0"/>
          <a:ext cx="0" cy="0"/>
          <a:chOff x="0" y="0"/>
          <a:chExt cx="0" cy="0"/>
        </a:xfrm>
      </p:grpSpPr>
      <p:sp>
        <p:nvSpPr>
          <p:cNvPr id="6" name="Google Shape;105;p2">
            <a:extLst>
              <a:ext uri="{FF2B5EF4-FFF2-40B4-BE49-F238E27FC236}">
                <a16:creationId xmlns:a16="http://schemas.microsoft.com/office/drawing/2014/main" id="{9D39C268-2760-692A-0441-EEB0A6C47D06}"/>
              </a:ext>
            </a:extLst>
          </p:cNvPr>
          <p:cNvSpPr txBox="1">
            <a:spLocks/>
          </p:cNvSpPr>
          <p:nvPr/>
        </p:nvSpPr>
        <p:spPr>
          <a:xfrm>
            <a:off x="455999" y="2272858"/>
            <a:ext cx="5458102" cy="393435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endParaRPr lang="it-IT" b="1" dirty="0"/>
          </a:p>
        </p:txBody>
      </p:sp>
      <p:grpSp>
        <p:nvGrpSpPr>
          <p:cNvPr id="2" name="Gruppo 1">
            <a:extLst>
              <a:ext uri="{FF2B5EF4-FFF2-40B4-BE49-F238E27FC236}">
                <a16:creationId xmlns:a16="http://schemas.microsoft.com/office/drawing/2014/main" id="{2E215887-1D36-BC14-0A50-6F518210CB6E}"/>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0C6712A0-DA63-68B7-1BE9-1C426A02D308}"/>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CA1B13DC-243B-B651-AAFE-73CDE49E5353}"/>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13" name="Google Shape;105;p2">
            <a:extLst>
              <a:ext uri="{FF2B5EF4-FFF2-40B4-BE49-F238E27FC236}">
                <a16:creationId xmlns:a16="http://schemas.microsoft.com/office/drawing/2014/main" id="{CEC35E5D-72E3-2D98-F080-F4FC3A826F4D}"/>
              </a:ext>
            </a:extLst>
          </p:cNvPr>
          <p:cNvSpPr txBox="1">
            <a:spLocks/>
          </p:cNvSpPr>
          <p:nvPr/>
        </p:nvSpPr>
        <p:spPr>
          <a:xfrm>
            <a:off x="82373" y="1207597"/>
            <a:ext cx="12109627" cy="3934349"/>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spcBef>
                <a:spcPts val="0"/>
              </a:spcBef>
              <a:buSzPts val="3200"/>
              <a:buFont typeface="Arial"/>
              <a:buNone/>
            </a:pPr>
            <a:r>
              <a:rPr lang="it-IT" dirty="0"/>
              <a:t>La curva di coppia è simile a quanto previsto. L’ampiezza ridotta è dovuta all’assenza di un blocco che modelli l’urto tra pattino e pacco.</a:t>
            </a:r>
          </a:p>
        </p:txBody>
      </p:sp>
      <p:pic>
        <p:nvPicPr>
          <p:cNvPr id="10" name="Immagine 9">
            <a:extLst>
              <a:ext uri="{FF2B5EF4-FFF2-40B4-BE49-F238E27FC236}">
                <a16:creationId xmlns:a16="http://schemas.microsoft.com/office/drawing/2014/main" id="{B59A2961-86C8-105E-B803-63BAF3CD5C13}"/>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contrast="-40000"/>
                    </a14:imgEffect>
                  </a14:imgLayer>
                </a14:imgProps>
              </a:ext>
            </a:extLst>
          </a:blip>
          <a:stretch>
            <a:fillRect/>
          </a:stretch>
        </p:blipFill>
        <p:spPr>
          <a:xfrm>
            <a:off x="1597739" y="2227529"/>
            <a:ext cx="8632723" cy="402500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5" name="Titolo 8">
            <a:extLst>
              <a:ext uri="{FF2B5EF4-FFF2-40B4-BE49-F238E27FC236}">
                <a16:creationId xmlns:a16="http://schemas.microsoft.com/office/drawing/2014/main" id="{8CFD6425-5066-CB30-23C4-18B5229D5382}"/>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Simulazione </a:t>
            </a:r>
            <a:r>
              <a:rPr lang="it-IT" dirty="0" err="1">
                <a:solidFill>
                  <a:schemeClr val="bg1"/>
                </a:solidFill>
              </a:rPr>
              <a:t>Simscape</a:t>
            </a:r>
            <a:endParaRPr lang="it-IT" dirty="0">
              <a:solidFill>
                <a:schemeClr val="bg1"/>
              </a:solidFill>
            </a:endParaRPr>
          </a:p>
        </p:txBody>
      </p:sp>
    </p:spTree>
    <p:extLst>
      <p:ext uri="{BB962C8B-B14F-4D97-AF65-F5344CB8AC3E}">
        <p14:creationId xmlns:p14="http://schemas.microsoft.com/office/powerpoint/2010/main" val="37384597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8A80173-EF48-F8B8-EB18-AC28F0BA82E3}"/>
            </a:ext>
          </a:extLst>
        </p:cNvPr>
        <p:cNvGrpSpPr/>
        <p:nvPr/>
      </p:nvGrpSpPr>
      <p:grpSpPr>
        <a:xfrm>
          <a:off x="0" y="0"/>
          <a:ext cx="0" cy="0"/>
          <a:chOff x="0" y="0"/>
          <a:chExt cx="0" cy="0"/>
        </a:xfrm>
      </p:grpSpPr>
      <p:grpSp>
        <p:nvGrpSpPr>
          <p:cNvPr id="2" name="Gruppo 1">
            <a:extLst>
              <a:ext uri="{FF2B5EF4-FFF2-40B4-BE49-F238E27FC236}">
                <a16:creationId xmlns:a16="http://schemas.microsoft.com/office/drawing/2014/main" id="{2A1A34CA-9D17-66C0-0259-3782F00EC274}"/>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906B97FD-E64D-F34D-9294-0D84A6C2391A}"/>
                </a:ext>
              </a:extLst>
            </p:cNvPr>
            <p:cNvSpPr txBox="1"/>
            <p:nvPr/>
          </p:nvSpPr>
          <p:spPr>
            <a:xfrm>
              <a:off x="0" y="6550222"/>
              <a:ext cx="2202426" cy="307777"/>
            </a:xfrm>
            <a:prstGeom prst="rect">
              <a:avLst/>
            </a:prstGeom>
            <a:noFill/>
          </p:spPr>
          <p:txBody>
            <a:bodyPr wrap="square" rtlCol="0">
              <a:spAutoFit/>
            </a:bodyPr>
            <a:lstStyle/>
            <a:p>
              <a:r>
                <a:rPr lang="it-IT" dirty="0">
                  <a:solidFill>
                    <a:schemeClr val="tx1"/>
                  </a:solidFill>
                </a:rPr>
                <a:t>Luca Cannone, 2072787</a:t>
              </a:r>
            </a:p>
          </p:txBody>
        </p:sp>
        <p:sp>
          <p:nvSpPr>
            <p:cNvPr id="4" name="CasellaDiTesto 3">
              <a:extLst>
                <a:ext uri="{FF2B5EF4-FFF2-40B4-BE49-F238E27FC236}">
                  <a16:creationId xmlns:a16="http://schemas.microsoft.com/office/drawing/2014/main" id="{D240EF6C-3074-B64B-7C48-ED65B8323D22}"/>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tx1"/>
                  </a:solidFill>
                </a:rPr>
                <a:t>Corso di Simulazione di Sistemi Multi-body, AA. 2024-25</a:t>
              </a:r>
            </a:p>
          </p:txBody>
        </p:sp>
      </p:grpSp>
      <p:sp>
        <p:nvSpPr>
          <p:cNvPr id="9" name="Titolo 8">
            <a:extLst>
              <a:ext uri="{FF2B5EF4-FFF2-40B4-BE49-F238E27FC236}">
                <a16:creationId xmlns:a16="http://schemas.microsoft.com/office/drawing/2014/main" id="{0E6DDA79-74CC-69D1-35EA-2B160C19D999}"/>
              </a:ext>
            </a:extLst>
          </p:cNvPr>
          <p:cNvSpPr txBox="1">
            <a:spLocks/>
          </p:cNvSpPr>
          <p:nvPr/>
        </p:nvSpPr>
        <p:spPr>
          <a:xfrm>
            <a:off x="4231587" y="0"/>
            <a:ext cx="7960413" cy="1162268"/>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600"/>
              <a:buFont typeface="Arial"/>
              <a:buNone/>
              <a:defRPr sz="36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r"/>
            <a:r>
              <a:rPr lang="it-IT" dirty="0">
                <a:solidFill>
                  <a:schemeClr val="bg1"/>
                </a:solidFill>
              </a:rPr>
              <a:t>Simulazione Adams della camma</a:t>
            </a:r>
          </a:p>
        </p:txBody>
      </p:sp>
      <p:pic>
        <p:nvPicPr>
          <p:cNvPr id="7" name="20250614-1542-22.7233872">
            <a:hlinkClick r:id="" action="ppaction://media"/>
            <a:extLst>
              <a:ext uri="{FF2B5EF4-FFF2-40B4-BE49-F238E27FC236}">
                <a16:creationId xmlns:a16="http://schemas.microsoft.com/office/drawing/2014/main" id="{2AB6032E-2121-DEAF-6698-A7411F54504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476628" y="1787023"/>
            <a:ext cx="8874945" cy="4420185"/>
          </a:xfrm>
          <a:prstGeom prst="rect">
            <a:avLst/>
          </a:prstGeom>
        </p:spPr>
      </p:pic>
    </p:spTree>
    <p:extLst>
      <p:ext uri="{BB962C8B-B14F-4D97-AF65-F5344CB8AC3E}">
        <p14:creationId xmlns:p14="http://schemas.microsoft.com/office/powerpoint/2010/main" val="4127396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239"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4"/>
          <p:cNvSpPr txBox="1">
            <a:spLocks noGrp="1"/>
          </p:cNvSpPr>
          <p:nvPr>
            <p:ph type="title" idx="4294967295"/>
          </p:nvPr>
        </p:nvSpPr>
        <p:spPr>
          <a:xfrm>
            <a:off x="838200" y="-1325563"/>
            <a:ext cx="10515600" cy="132556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4400"/>
              <a:buFont typeface="Arial"/>
              <a:buNone/>
            </a:pPr>
            <a:r>
              <a:rPr lang="it-IT"/>
              <a:t>Università degli Studi di Padova</a:t>
            </a:r>
            <a:endParaRPr/>
          </a:p>
        </p:txBody>
      </p:sp>
      <p:grpSp>
        <p:nvGrpSpPr>
          <p:cNvPr id="2" name="Gruppo 1">
            <a:extLst>
              <a:ext uri="{FF2B5EF4-FFF2-40B4-BE49-F238E27FC236}">
                <a16:creationId xmlns:a16="http://schemas.microsoft.com/office/drawing/2014/main" id="{E65915DE-8417-646C-E022-B7330509E462}"/>
              </a:ext>
            </a:extLst>
          </p:cNvPr>
          <p:cNvGrpSpPr/>
          <p:nvPr/>
        </p:nvGrpSpPr>
        <p:grpSpPr>
          <a:xfrm>
            <a:off x="0" y="6550222"/>
            <a:ext cx="12192000" cy="307778"/>
            <a:chOff x="0" y="6550222"/>
            <a:chExt cx="12192000" cy="307778"/>
          </a:xfrm>
        </p:grpSpPr>
        <p:sp>
          <p:nvSpPr>
            <p:cNvPr id="3" name="CasellaDiTesto 2">
              <a:extLst>
                <a:ext uri="{FF2B5EF4-FFF2-40B4-BE49-F238E27FC236}">
                  <a16:creationId xmlns:a16="http://schemas.microsoft.com/office/drawing/2014/main" id="{39ED8D9A-2A07-2CB1-3E9E-FB845AE9D05B}"/>
                </a:ext>
              </a:extLst>
            </p:cNvPr>
            <p:cNvSpPr txBox="1"/>
            <p:nvPr/>
          </p:nvSpPr>
          <p:spPr>
            <a:xfrm>
              <a:off x="0" y="6550222"/>
              <a:ext cx="2202426" cy="307777"/>
            </a:xfrm>
            <a:prstGeom prst="rect">
              <a:avLst/>
            </a:prstGeom>
            <a:noFill/>
          </p:spPr>
          <p:txBody>
            <a:bodyPr wrap="square" rtlCol="0">
              <a:spAutoFit/>
            </a:bodyPr>
            <a:lstStyle/>
            <a:p>
              <a:r>
                <a:rPr lang="it-IT" dirty="0">
                  <a:solidFill>
                    <a:schemeClr val="bg1"/>
                  </a:solidFill>
                </a:rPr>
                <a:t>Luca Cannone, 2072787</a:t>
              </a:r>
            </a:p>
          </p:txBody>
        </p:sp>
        <p:sp>
          <p:nvSpPr>
            <p:cNvPr id="4" name="CasellaDiTesto 3">
              <a:extLst>
                <a:ext uri="{FF2B5EF4-FFF2-40B4-BE49-F238E27FC236}">
                  <a16:creationId xmlns:a16="http://schemas.microsoft.com/office/drawing/2014/main" id="{207C5961-D4E0-87EB-2598-75D227E40397}"/>
                </a:ext>
              </a:extLst>
            </p:cNvPr>
            <p:cNvSpPr txBox="1">
              <a:spLocks/>
            </p:cNvSpPr>
            <p:nvPr/>
          </p:nvSpPr>
          <p:spPr>
            <a:xfrm>
              <a:off x="7497096" y="6550223"/>
              <a:ext cx="4694904" cy="307777"/>
            </a:xfrm>
            <a:prstGeom prst="rect">
              <a:avLst/>
            </a:prstGeom>
            <a:noFill/>
          </p:spPr>
          <p:txBody>
            <a:bodyPr wrap="square" rtlCol="0">
              <a:spAutoFit/>
            </a:bodyPr>
            <a:lstStyle/>
            <a:p>
              <a:r>
                <a:rPr lang="it-IT" dirty="0">
                  <a:solidFill>
                    <a:schemeClr val="bg1"/>
                  </a:solidFill>
                </a:rPr>
                <a:t>Corso di Simulazione di Sistemi Multi-body, AA. 2024-25</a:t>
              </a:r>
            </a:p>
          </p:txBody>
        </p:sp>
      </p:grpSp>
    </p:spTree>
  </p:cSld>
  <p:clrMapOvr>
    <a:masterClrMapping/>
  </p:clrMapOvr>
</p:sld>
</file>

<file path=ppt/theme/theme1.xml><?xml version="1.0" encoding="utf-8"?>
<a:theme xmlns:a="http://schemas.openxmlformats.org/drawingml/2006/main" name="Tema di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i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6704</TotalTime>
  <Words>4144</Words>
  <Application>Microsoft Office PowerPoint</Application>
  <PresentationFormat>Widescreen</PresentationFormat>
  <Paragraphs>408</Paragraphs>
  <Slides>30</Slides>
  <Notes>28</Notes>
  <HiddenSlides>0</HiddenSlides>
  <MMClips>4</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30</vt:i4>
      </vt:variant>
    </vt:vector>
  </HeadingPairs>
  <TitlesOfParts>
    <vt:vector size="33" baseType="lpstr">
      <vt:lpstr>Arial</vt:lpstr>
      <vt:lpstr>Calibri</vt:lpstr>
      <vt:lpstr>Tema di Office</vt:lpstr>
      <vt:lpstr>Progetto di Simulazione Multi-body</vt:lpstr>
      <vt:lpstr>Prompt del progetto</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Università degli Studi di Padova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Bocchi Giuliano</dc:creator>
  <cp:lastModifiedBy>Luca Cannone</cp:lastModifiedBy>
  <cp:revision>25</cp:revision>
  <cp:lastPrinted>2025-06-12T13:43:46Z</cp:lastPrinted>
  <dcterms:created xsi:type="dcterms:W3CDTF">2022-07-26T10:43:33Z</dcterms:created>
  <dcterms:modified xsi:type="dcterms:W3CDTF">2025-06-30T20:57:10Z</dcterms:modified>
</cp:coreProperties>
</file>